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0058400" cy="7772400"/>
  <p:notesSz cx="6858000" cy="9144000"/>
  <p:embeddedFontLst>
    <p:embeddedFont>
      <p:font typeface="Horizon" panose="020B0604020202020204" charset="0"/>
      <p:regular r:id="rId12"/>
    </p:embeddedFont>
    <p:embeddedFont>
      <p:font typeface="Knockout Welterweight Bold" panose="020B0604020202020204" charset="0"/>
      <p:regular r:id="rId13"/>
    </p:embeddedFont>
    <p:embeddedFont>
      <p:font typeface="Radnika Next" panose="020B0604020202020204" charset="0"/>
      <p:regular r:id="rId14"/>
    </p:embeddedFont>
    <p:embeddedFont>
      <p:font typeface="Radnika Next Bold" panose="020B0604020202020204" charset="0"/>
      <p:regular r:id="rId15"/>
    </p:embeddedFont>
    <p:embeddedFont>
      <p:font typeface="Work Sans" pitchFamily="2" charset="0"/>
      <p:regular r:id="rId16"/>
    </p:embeddedFont>
    <p:embeddedFont>
      <p:font typeface="Work Sans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3" d="100"/>
          <a:sy n="103" d="100"/>
        </p:scale>
        <p:origin x="1560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3526" y="1104352"/>
            <a:ext cx="4734098" cy="2512715"/>
            <a:chOff x="0" y="0"/>
            <a:chExt cx="1650230" cy="8758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50230" cy="875892"/>
            </a:xfrm>
            <a:custGeom>
              <a:avLst/>
              <a:gdLst/>
              <a:ahLst/>
              <a:cxnLst/>
              <a:rect l="l" t="t" r="r" b="b"/>
              <a:pathLst>
                <a:path w="1650230" h="875892">
                  <a:moveTo>
                    <a:pt x="24530" y="0"/>
                  </a:moveTo>
                  <a:lnTo>
                    <a:pt x="1625700" y="0"/>
                  </a:lnTo>
                  <a:cubicBezTo>
                    <a:pt x="1632206" y="0"/>
                    <a:pt x="1638445" y="2584"/>
                    <a:pt x="1643045" y="7185"/>
                  </a:cubicBezTo>
                  <a:cubicBezTo>
                    <a:pt x="1647646" y="11785"/>
                    <a:pt x="1650230" y="18024"/>
                    <a:pt x="1650230" y="24530"/>
                  </a:cubicBezTo>
                  <a:lnTo>
                    <a:pt x="1650230" y="851362"/>
                  </a:lnTo>
                  <a:cubicBezTo>
                    <a:pt x="1650230" y="857868"/>
                    <a:pt x="1647646" y="864107"/>
                    <a:pt x="1643045" y="868707"/>
                  </a:cubicBezTo>
                  <a:cubicBezTo>
                    <a:pt x="1638445" y="873308"/>
                    <a:pt x="1632206" y="875892"/>
                    <a:pt x="1625700" y="875892"/>
                  </a:cubicBezTo>
                  <a:lnTo>
                    <a:pt x="24530" y="875892"/>
                  </a:lnTo>
                  <a:cubicBezTo>
                    <a:pt x="18024" y="875892"/>
                    <a:pt x="11785" y="873308"/>
                    <a:pt x="7185" y="868707"/>
                  </a:cubicBezTo>
                  <a:cubicBezTo>
                    <a:pt x="2584" y="864107"/>
                    <a:pt x="0" y="857868"/>
                    <a:pt x="0" y="851362"/>
                  </a:cubicBezTo>
                  <a:lnTo>
                    <a:pt x="0" y="24530"/>
                  </a:lnTo>
                  <a:cubicBezTo>
                    <a:pt x="0" y="18024"/>
                    <a:pt x="2584" y="11785"/>
                    <a:pt x="7185" y="7185"/>
                  </a:cubicBezTo>
                  <a:cubicBezTo>
                    <a:pt x="11785" y="2584"/>
                    <a:pt x="18024" y="0"/>
                    <a:pt x="24530" y="0"/>
                  </a:cubicBezTo>
                  <a:close/>
                </a:path>
              </a:pathLst>
            </a:custGeom>
            <a:solidFill>
              <a:srgbClr val="2A0DA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650230" cy="904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0086" y="6533193"/>
            <a:ext cx="9818228" cy="1124459"/>
            <a:chOff x="0" y="0"/>
            <a:chExt cx="3422476" cy="3919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422476" cy="391968"/>
            </a:xfrm>
            <a:custGeom>
              <a:avLst/>
              <a:gdLst/>
              <a:ahLst/>
              <a:cxnLst/>
              <a:rect l="l" t="t" r="r" b="b"/>
              <a:pathLst>
                <a:path w="3422476" h="391968">
                  <a:moveTo>
                    <a:pt x="0" y="0"/>
                  </a:moveTo>
                  <a:lnTo>
                    <a:pt x="3422476" y="0"/>
                  </a:lnTo>
                  <a:lnTo>
                    <a:pt x="3422476" y="391968"/>
                  </a:lnTo>
                  <a:lnTo>
                    <a:pt x="0" y="391968"/>
                  </a:lnTo>
                  <a:close/>
                </a:path>
              </a:pathLst>
            </a:custGeom>
            <a:solidFill>
              <a:srgbClr val="150068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3422476" cy="4205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03526" y="7137394"/>
            <a:ext cx="2304781" cy="321693"/>
            <a:chOff x="0" y="0"/>
            <a:chExt cx="3073041" cy="42892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28924" cy="428924"/>
            </a:xfrm>
            <a:custGeom>
              <a:avLst/>
              <a:gdLst/>
              <a:ahLst/>
              <a:cxnLst/>
              <a:rect l="l" t="t" r="r" b="b"/>
              <a:pathLst>
                <a:path w="428924" h="428924">
                  <a:moveTo>
                    <a:pt x="0" y="0"/>
                  </a:moveTo>
                  <a:lnTo>
                    <a:pt x="428924" y="0"/>
                  </a:lnTo>
                  <a:lnTo>
                    <a:pt x="428924" y="428924"/>
                  </a:lnTo>
                  <a:lnTo>
                    <a:pt x="0" y="428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428924" y="23952"/>
              <a:ext cx="2644117" cy="342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Radnika Next"/>
                  <a:ea typeface="Radnika Next"/>
                  <a:cs typeface="Radnika Next"/>
                  <a:sym typeface="Radnika Next"/>
                </a:rPr>
                <a:t>Atom Count Verified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768364" y="7138035"/>
            <a:ext cx="2000779" cy="321693"/>
            <a:chOff x="0" y="0"/>
            <a:chExt cx="2667705" cy="428924"/>
          </a:xfrm>
        </p:grpSpPr>
        <p:sp>
          <p:nvSpPr>
            <p:cNvPr id="12" name="TextBox 12"/>
            <p:cNvSpPr txBox="1"/>
            <p:nvPr/>
          </p:nvSpPr>
          <p:spPr>
            <a:xfrm>
              <a:off x="457418" y="23952"/>
              <a:ext cx="2210287" cy="342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Radnika Next"/>
                  <a:ea typeface="Radnika Next"/>
                  <a:cs typeface="Radnika Next"/>
                  <a:sym typeface="Radnika Next"/>
                </a:rPr>
                <a:t>Valence Checked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428924" cy="428924"/>
            </a:xfrm>
            <a:custGeom>
              <a:avLst/>
              <a:gdLst/>
              <a:ahLst/>
              <a:cxnLst/>
              <a:rect l="l" t="t" r="r" b="b"/>
              <a:pathLst>
                <a:path w="428924" h="428924">
                  <a:moveTo>
                    <a:pt x="0" y="0"/>
                  </a:moveTo>
                  <a:lnTo>
                    <a:pt x="428924" y="0"/>
                  </a:lnTo>
                  <a:lnTo>
                    <a:pt x="428924" y="428924"/>
                  </a:lnTo>
                  <a:lnTo>
                    <a:pt x="0" y="428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5090954" y="7138035"/>
            <a:ext cx="2379111" cy="321693"/>
            <a:chOff x="0" y="0"/>
            <a:chExt cx="3172148" cy="428924"/>
          </a:xfrm>
        </p:grpSpPr>
        <p:sp>
          <p:nvSpPr>
            <p:cNvPr id="15" name="TextBox 15"/>
            <p:cNvSpPr txBox="1"/>
            <p:nvPr/>
          </p:nvSpPr>
          <p:spPr>
            <a:xfrm>
              <a:off x="428924" y="23952"/>
              <a:ext cx="2743223" cy="342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Radnika Next"/>
                  <a:ea typeface="Radnika Next"/>
                  <a:cs typeface="Radnika Next"/>
                  <a:sym typeface="Radnika Next"/>
                </a:rPr>
                <a:t>Bond Order Checked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428924" cy="428924"/>
            </a:xfrm>
            <a:custGeom>
              <a:avLst/>
              <a:gdLst/>
              <a:ahLst/>
              <a:cxnLst/>
              <a:rect l="l" t="t" r="r" b="b"/>
              <a:pathLst>
                <a:path w="428924" h="428924">
                  <a:moveTo>
                    <a:pt x="0" y="0"/>
                  </a:moveTo>
                  <a:lnTo>
                    <a:pt x="428924" y="0"/>
                  </a:lnTo>
                  <a:lnTo>
                    <a:pt x="428924" y="428924"/>
                  </a:lnTo>
                  <a:lnTo>
                    <a:pt x="0" y="428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203526" y="3849747"/>
            <a:ext cx="4734098" cy="2512715"/>
            <a:chOff x="0" y="0"/>
            <a:chExt cx="1650230" cy="87589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50230" cy="875892"/>
            </a:xfrm>
            <a:custGeom>
              <a:avLst/>
              <a:gdLst/>
              <a:ahLst/>
              <a:cxnLst/>
              <a:rect l="l" t="t" r="r" b="b"/>
              <a:pathLst>
                <a:path w="1650230" h="875892">
                  <a:moveTo>
                    <a:pt x="24530" y="0"/>
                  </a:moveTo>
                  <a:lnTo>
                    <a:pt x="1625700" y="0"/>
                  </a:lnTo>
                  <a:cubicBezTo>
                    <a:pt x="1632206" y="0"/>
                    <a:pt x="1638445" y="2584"/>
                    <a:pt x="1643045" y="7185"/>
                  </a:cubicBezTo>
                  <a:cubicBezTo>
                    <a:pt x="1647646" y="11785"/>
                    <a:pt x="1650230" y="18024"/>
                    <a:pt x="1650230" y="24530"/>
                  </a:cubicBezTo>
                  <a:lnTo>
                    <a:pt x="1650230" y="851362"/>
                  </a:lnTo>
                  <a:cubicBezTo>
                    <a:pt x="1650230" y="857868"/>
                    <a:pt x="1647646" y="864107"/>
                    <a:pt x="1643045" y="868707"/>
                  </a:cubicBezTo>
                  <a:cubicBezTo>
                    <a:pt x="1638445" y="873308"/>
                    <a:pt x="1632206" y="875892"/>
                    <a:pt x="1625700" y="875892"/>
                  </a:cubicBezTo>
                  <a:lnTo>
                    <a:pt x="24530" y="875892"/>
                  </a:lnTo>
                  <a:cubicBezTo>
                    <a:pt x="18024" y="875892"/>
                    <a:pt x="11785" y="873308"/>
                    <a:pt x="7185" y="868707"/>
                  </a:cubicBezTo>
                  <a:cubicBezTo>
                    <a:pt x="2584" y="864107"/>
                    <a:pt x="0" y="857868"/>
                    <a:pt x="0" y="851362"/>
                  </a:cubicBezTo>
                  <a:lnTo>
                    <a:pt x="0" y="24530"/>
                  </a:lnTo>
                  <a:cubicBezTo>
                    <a:pt x="0" y="18024"/>
                    <a:pt x="2584" y="11785"/>
                    <a:pt x="7185" y="7185"/>
                  </a:cubicBezTo>
                  <a:cubicBezTo>
                    <a:pt x="11785" y="2584"/>
                    <a:pt x="18024" y="0"/>
                    <a:pt x="24530" y="0"/>
                  </a:cubicBezTo>
                  <a:close/>
                </a:path>
              </a:pathLst>
            </a:custGeom>
            <a:solidFill>
              <a:srgbClr val="2A0DA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1650230" cy="904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120777" y="1104352"/>
            <a:ext cx="4734098" cy="2512715"/>
            <a:chOff x="0" y="0"/>
            <a:chExt cx="1650230" cy="87589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650230" cy="875892"/>
            </a:xfrm>
            <a:custGeom>
              <a:avLst/>
              <a:gdLst/>
              <a:ahLst/>
              <a:cxnLst/>
              <a:rect l="l" t="t" r="r" b="b"/>
              <a:pathLst>
                <a:path w="1650230" h="875892">
                  <a:moveTo>
                    <a:pt x="24530" y="0"/>
                  </a:moveTo>
                  <a:lnTo>
                    <a:pt x="1625700" y="0"/>
                  </a:lnTo>
                  <a:cubicBezTo>
                    <a:pt x="1632206" y="0"/>
                    <a:pt x="1638445" y="2584"/>
                    <a:pt x="1643045" y="7185"/>
                  </a:cubicBezTo>
                  <a:cubicBezTo>
                    <a:pt x="1647646" y="11785"/>
                    <a:pt x="1650230" y="18024"/>
                    <a:pt x="1650230" y="24530"/>
                  </a:cubicBezTo>
                  <a:lnTo>
                    <a:pt x="1650230" y="851362"/>
                  </a:lnTo>
                  <a:cubicBezTo>
                    <a:pt x="1650230" y="857868"/>
                    <a:pt x="1647646" y="864107"/>
                    <a:pt x="1643045" y="868707"/>
                  </a:cubicBezTo>
                  <a:cubicBezTo>
                    <a:pt x="1638445" y="873308"/>
                    <a:pt x="1632206" y="875892"/>
                    <a:pt x="1625700" y="875892"/>
                  </a:cubicBezTo>
                  <a:lnTo>
                    <a:pt x="24530" y="875892"/>
                  </a:lnTo>
                  <a:cubicBezTo>
                    <a:pt x="18024" y="875892"/>
                    <a:pt x="11785" y="873308"/>
                    <a:pt x="7185" y="868707"/>
                  </a:cubicBezTo>
                  <a:cubicBezTo>
                    <a:pt x="2584" y="864107"/>
                    <a:pt x="0" y="857868"/>
                    <a:pt x="0" y="851362"/>
                  </a:cubicBezTo>
                  <a:lnTo>
                    <a:pt x="0" y="24530"/>
                  </a:lnTo>
                  <a:cubicBezTo>
                    <a:pt x="0" y="18024"/>
                    <a:pt x="2584" y="11785"/>
                    <a:pt x="7185" y="7185"/>
                  </a:cubicBezTo>
                  <a:cubicBezTo>
                    <a:pt x="11785" y="2584"/>
                    <a:pt x="18024" y="0"/>
                    <a:pt x="24530" y="0"/>
                  </a:cubicBezTo>
                  <a:close/>
                </a:path>
              </a:pathLst>
            </a:custGeom>
            <a:solidFill>
              <a:srgbClr val="2A0DA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1650230" cy="904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090954" y="3868078"/>
            <a:ext cx="4734098" cy="2512715"/>
            <a:chOff x="0" y="0"/>
            <a:chExt cx="1650230" cy="87589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650230" cy="875892"/>
            </a:xfrm>
            <a:custGeom>
              <a:avLst/>
              <a:gdLst/>
              <a:ahLst/>
              <a:cxnLst/>
              <a:rect l="l" t="t" r="r" b="b"/>
              <a:pathLst>
                <a:path w="1650230" h="875892">
                  <a:moveTo>
                    <a:pt x="24530" y="0"/>
                  </a:moveTo>
                  <a:lnTo>
                    <a:pt x="1625700" y="0"/>
                  </a:lnTo>
                  <a:cubicBezTo>
                    <a:pt x="1632206" y="0"/>
                    <a:pt x="1638445" y="2584"/>
                    <a:pt x="1643045" y="7185"/>
                  </a:cubicBezTo>
                  <a:cubicBezTo>
                    <a:pt x="1647646" y="11785"/>
                    <a:pt x="1650230" y="18024"/>
                    <a:pt x="1650230" y="24530"/>
                  </a:cubicBezTo>
                  <a:lnTo>
                    <a:pt x="1650230" y="851362"/>
                  </a:lnTo>
                  <a:cubicBezTo>
                    <a:pt x="1650230" y="857868"/>
                    <a:pt x="1647646" y="864107"/>
                    <a:pt x="1643045" y="868707"/>
                  </a:cubicBezTo>
                  <a:cubicBezTo>
                    <a:pt x="1638445" y="873308"/>
                    <a:pt x="1632206" y="875892"/>
                    <a:pt x="1625700" y="875892"/>
                  </a:cubicBezTo>
                  <a:lnTo>
                    <a:pt x="24530" y="875892"/>
                  </a:lnTo>
                  <a:cubicBezTo>
                    <a:pt x="18024" y="875892"/>
                    <a:pt x="11785" y="873308"/>
                    <a:pt x="7185" y="868707"/>
                  </a:cubicBezTo>
                  <a:cubicBezTo>
                    <a:pt x="2584" y="864107"/>
                    <a:pt x="0" y="857868"/>
                    <a:pt x="0" y="851362"/>
                  </a:cubicBezTo>
                  <a:lnTo>
                    <a:pt x="0" y="24530"/>
                  </a:lnTo>
                  <a:cubicBezTo>
                    <a:pt x="0" y="18024"/>
                    <a:pt x="2584" y="11785"/>
                    <a:pt x="7185" y="7185"/>
                  </a:cubicBezTo>
                  <a:cubicBezTo>
                    <a:pt x="11785" y="2584"/>
                    <a:pt x="18024" y="0"/>
                    <a:pt x="24530" y="0"/>
                  </a:cubicBezTo>
                  <a:close/>
                </a:path>
              </a:pathLst>
            </a:custGeom>
            <a:solidFill>
              <a:srgbClr val="2A0DA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1650230" cy="904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AutoShape 26"/>
          <p:cNvSpPr/>
          <p:nvPr/>
        </p:nvSpPr>
        <p:spPr>
          <a:xfrm>
            <a:off x="310661" y="1684898"/>
            <a:ext cx="4499464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AutoShape 27"/>
          <p:cNvSpPr/>
          <p:nvPr/>
        </p:nvSpPr>
        <p:spPr>
          <a:xfrm>
            <a:off x="5227223" y="1703948"/>
            <a:ext cx="4499464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AutoShape 28"/>
          <p:cNvSpPr/>
          <p:nvPr/>
        </p:nvSpPr>
        <p:spPr>
          <a:xfrm>
            <a:off x="345191" y="4466515"/>
            <a:ext cx="4499464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" name="AutoShape 29"/>
          <p:cNvSpPr/>
          <p:nvPr/>
        </p:nvSpPr>
        <p:spPr>
          <a:xfrm>
            <a:off x="5208271" y="4478712"/>
            <a:ext cx="4499464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0" name="Freeform 30"/>
          <p:cNvSpPr/>
          <p:nvPr/>
        </p:nvSpPr>
        <p:spPr>
          <a:xfrm>
            <a:off x="5738356" y="1703948"/>
            <a:ext cx="3439294" cy="1866465"/>
          </a:xfrm>
          <a:custGeom>
            <a:avLst/>
            <a:gdLst/>
            <a:ahLst/>
            <a:cxnLst/>
            <a:rect l="l" t="t" r="r" b="b"/>
            <a:pathLst>
              <a:path w="3439294" h="1866465">
                <a:moveTo>
                  <a:pt x="0" y="0"/>
                </a:moveTo>
                <a:lnTo>
                  <a:pt x="3439294" y="0"/>
                </a:lnTo>
                <a:lnTo>
                  <a:pt x="3439294" y="1866465"/>
                </a:lnTo>
                <a:lnTo>
                  <a:pt x="0" y="18664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130" t="-54885" r="-7235" b="-54011"/>
            </a:stretch>
          </a:blipFill>
        </p:spPr>
      </p:sp>
      <p:grpSp>
        <p:nvGrpSpPr>
          <p:cNvPr id="31" name="Group 31"/>
          <p:cNvGrpSpPr/>
          <p:nvPr/>
        </p:nvGrpSpPr>
        <p:grpSpPr>
          <a:xfrm>
            <a:off x="7727240" y="7138035"/>
            <a:ext cx="2147247" cy="321693"/>
            <a:chOff x="0" y="0"/>
            <a:chExt cx="2862995" cy="428924"/>
          </a:xfrm>
        </p:grpSpPr>
        <p:sp>
          <p:nvSpPr>
            <p:cNvPr id="32" name="TextBox 32"/>
            <p:cNvSpPr txBox="1"/>
            <p:nvPr/>
          </p:nvSpPr>
          <p:spPr>
            <a:xfrm>
              <a:off x="428924" y="23952"/>
              <a:ext cx="2434071" cy="342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Radnika Next"/>
                  <a:ea typeface="Radnika Next"/>
                  <a:cs typeface="Radnika Next"/>
                  <a:sym typeface="Radnika Next"/>
                </a:rPr>
                <a:t>Same Connectivity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0" y="0"/>
              <a:ext cx="428924" cy="428924"/>
            </a:xfrm>
            <a:custGeom>
              <a:avLst/>
              <a:gdLst/>
              <a:ahLst/>
              <a:cxnLst/>
              <a:rect l="l" t="t" r="r" b="b"/>
              <a:pathLst>
                <a:path w="428924" h="428924">
                  <a:moveTo>
                    <a:pt x="0" y="0"/>
                  </a:moveTo>
                  <a:lnTo>
                    <a:pt x="428924" y="0"/>
                  </a:lnTo>
                  <a:lnTo>
                    <a:pt x="428924" y="428924"/>
                  </a:lnTo>
                  <a:lnTo>
                    <a:pt x="0" y="428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34" name="Group 34"/>
          <p:cNvGrpSpPr/>
          <p:nvPr/>
        </p:nvGrpSpPr>
        <p:grpSpPr>
          <a:xfrm>
            <a:off x="2685506" y="155481"/>
            <a:ext cx="4687388" cy="559269"/>
            <a:chOff x="0" y="0"/>
            <a:chExt cx="1633948" cy="19495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633948" cy="194952"/>
            </a:xfrm>
            <a:custGeom>
              <a:avLst/>
              <a:gdLst/>
              <a:ahLst/>
              <a:cxnLst/>
              <a:rect l="l" t="t" r="r" b="b"/>
              <a:pathLst>
                <a:path w="1633948" h="194952">
                  <a:moveTo>
                    <a:pt x="49549" y="0"/>
                  </a:moveTo>
                  <a:lnTo>
                    <a:pt x="1584398" y="0"/>
                  </a:lnTo>
                  <a:cubicBezTo>
                    <a:pt x="1597540" y="0"/>
                    <a:pt x="1610143" y="5220"/>
                    <a:pt x="1619435" y="14513"/>
                  </a:cubicBezTo>
                  <a:cubicBezTo>
                    <a:pt x="1628728" y="23805"/>
                    <a:pt x="1633948" y="36408"/>
                    <a:pt x="1633948" y="49549"/>
                  </a:cubicBezTo>
                  <a:lnTo>
                    <a:pt x="1633948" y="145403"/>
                  </a:lnTo>
                  <a:cubicBezTo>
                    <a:pt x="1633948" y="158544"/>
                    <a:pt x="1628728" y="171147"/>
                    <a:pt x="1619435" y="180439"/>
                  </a:cubicBezTo>
                  <a:cubicBezTo>
                    <a:pt x="1610143" y="189732"/>
                    <a:pt x="1597540" y="194952"/>
                    <a:pt x="1584398" y="194952"/>
                  </a:cubicBezTo>
                  <a:lnTo>
                    <a:pt x="49549" y="194952"/>
                  </a:lnTo>
                  <a:cubicBezTo>
                    <a:pt x="36408" y="194952"/>
                    <a:pt x="23805" y="189732"/>
                    <a:pt x="14513" y="180439"/>
                  </a:cubicBezTo>
                  <a:cubicBezTo>
                    <a:pt x="5220" y="171147"/>
                    <a:pt x="0" y="158544"/>
                    <a:pt x="0" y="145403"/>
                  </a:cubicBezTo>
                  <a:lnTo>
                    <a:pt x="0" y="49549"/>
                  </a:lnTo>
                  <a:cubicBezTo>
                    <a:pt x="0" y="36408"/>
                    <a:pt x="5220" y="23805"/>
                    <a:pt x="14513" y="14513"/>
                  </a:cubicBezTo>
                  <a:cubicBezTo>
                    <a:pt x="23805" y="5220"/>
                    <a:pt x="36408" y="0"/>
                    <a:pt x="49549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0" y="-28575"/>
              <a:ext cx="1633948" cy="2235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2889926" y="129533"/>
            <a:ext cx="4278548" cy="898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CARD 01</a:t>
            </a:r>
            <a:r>
              <a:rPr lang="en-US" sz="3000" b="1" dirty="0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- PROPANE</a:t>
            </a:r>
          </a:p>
          <a:p>
            <a:pPr algn="ctr">
              <a:lnSpc>
                <a:spcPts val="2800"/>
              </a:lnSpc>
            </a:pPr>
            <a:r>
              <a:rPr lang="en-US" sz="2000" u="sng" dirty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Molecular Formula:</a:t>
            </a:r>
            <a:r>
              <a:rPr lang="en-US" sz="2000" b="1" u="sng" dirty="0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C3H8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164473" y="6628443"/>
            <a:ext cx="3729453" cy="382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b="1">
                <a:solidFill>
                  <a:srgbClr val="FFFFFF"/>
                </a:solidFill>
                <a:latin typeface="Radnika Next Bold"/>
                <a:ea typeface="Radnika Next Bold"/>
                <a:cs typeface="Radnika Next Bold"/>
                <a:sym typeface="Radnika Next Bold"/>
              </a:rPr>
              <a:t>- </a:t>
            </a:r>
            <a:r>
              <a:rPr lang="en-US" sz="2200" b="1" u="sng">
                <a:solidFill>
                  <a:srgbClr val="FFFFFF"/>
                </a:solidFill>
                <a:latin typeface="Radnika Next Bold"/>
                <a:ea typeface="Radnika Next Bold"/>
                <a:cs typeface="Radnika Next Bold"/>
                <a:sym typeface="Radnika Next Bold"/>
              </a:rPr>
              <a:t>VERIFICATION STRIP</a:t>
            </a:r>
            <a:r>
              <a:rPr lang="en-US" sz="2200" b="1">
                <a:solidFill>
                  <a:srgbClr val="FFFFFF"/>
                </a:solidFill>
                <a:latin typeface="Radnika Next Bold"/>
                <a:ea typeface="Radnika Next Bold"/>
                <a:cs typeface="Radnika Next Bold"/>
                <a:sym typeface="Radnika Next Bold"/>
              </a:rPr>
              <a:t> -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15251" y="1176611"/>
            <a:ext cx="2710647" cy="422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Knockout Welterweight Bold"/>
                <a:ea typeface="Knockout Welterweight Bold"/>
                <a:cs typeface="Knockout Welterweight Bold"/>
                <a:sym typeface="Knockout Welterweight Bold"/>
              </a:rPr>
              <a:t>MOLECULAR FORMULA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337665" y="1167086"/>
            <a:ext cx="2300321" cy="431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Knockout Welterweight Bold"/>
                <a:ea typeface="Knockout Welterweight Bold"/>
                <a:cs typeface="Knockout Welterweight Bold"/>
                <a:sym typeface="Knockout Welterweight Bold"/>
              </a:rPr>
              <a:t>LEWIS STRUCTURE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179949" y="3959967"/>
            <a:ext cx="2556107" cy="422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Knockout Welterweight Bold"/>
                <a:ea typeface="Knockout Welterweight Bold"/>
                <a:cs typeface="Knockout Welterweight Bold"/>
                <a:sym typeface="Knockout Welterweight Bold"/>
              </a:rPr>
              <a:t>BOND-LINE FORMULA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21851" y="3959967"/>
            <a:ext cx="4297447" cy="422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Knockout Welterweight Bold"/>
                <a:ea typeface="Knockout Welterweight Bold"/>
                <a:cs typeface="Knockout Welterweight Bold"/>
                <a:sym typeface="Knockout Welterweight Bold"/>
              </a:rPr>
              <a:t>CONDENSED STRUCTURAL FORMULA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80750" y="1992526"/>
            <a:ext cx="3405445" cy="1038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dirty="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C3H8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86653" y="4847515"/>
            <a:ext cx="4323472" cy="677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3600" dirty="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CH3CH2CH3</a:t>
            </a:r>
            <a:endParaRPr lang="en-US" sz="4000" dirty="0">
              <a:solidFill>
                <a:srgbClr val="FFFFFF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sp>
        <p:nvSpPr>
          <p:cNvPr id="45" name="Freeform 45"/>
          <p:cNvSpPr/>
          <p:nvPr/>
        </p:nvSpPr>
        <p:spPr>
          <a:xfrm>
            <a:off x="5476145" y="4724818"/>
            <a:ext cx="4023360" cy="1448410"/>
          </a:xfrm>
          <a:custGeom>
            <a:avLst/>
            <a:gdLst/>
            <a:ahLst/>
            <a:cxnLst/>
            <a:rect l="l" t="t" r="r" b="b"/>
            <a:pathLst>
              <a:path w="4023360" h="1448410">
                <a:moveTo>
                  <a:pt x="0" y="0"/>
                </a:moveTo>
                <a:lnTo>
                  <a:pt x="4023360" y="0"/>
                </a:lnTo>
                <a:lnTo>
                  <a:pt x="4023360" y="1448410"/>
                </a:lnTo>
                <a:lnTo>
                  <a:pt x="0" y="14484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3526" y="1104352"/>
            <a:ext cx="4734098" cy="2512715"/>
            <a:chOff x="0" y="0"/>
            <a:chExt cx="1650230" cy="8758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50230" cy="875892"/>
            </a:xfrm>
            <a:custGeom>
              <a:avLst/>
              <a:gdLst/>
              <a:ahLst/>
              <a:cxnLst/>
              <a:rect l="l" t="t" r="r" b="b"/>
              <a:pathLst>
                <a:path w="1650230" h="875892">
                  <a:moveTo>
                    <a:pt x="24530" y="0"/>
                  </a:moveTo>
                  <a:lnTo>
                    <a:pt x="1625700" y="0"/>
                  </a:lnTo>
                  <a:cubicBezTo>
                    <a:pt x="1632206" y="0"/>
                    <a:pt x="1638445" y="2584"/>
                    <a:pt x="1643045" y="7185"/>
                  </a:cubicBezTo>
                  <a:cubicBezTo>
                    <a:pt x="1647646" y="11785"/>
                    <a:pt x="1650230" y="18024"/>
                    <a:pt x="1650230" y="24530"/>
                  </a:cubicBezTo>
                  <a:lnTo>
                    <a:pt x="1650230" y="851362"/>
                  </a:lnTo>
                  <a:cubicBezTo>
                    <a:pt x="1650230" y="857868"/>
                    <a:pt x="1647646" y="864107"/>
                    <a:pt x="1643045" y="868707"/>
                  </a:cubicBezTo>
                  <a:cubicBezTo>
                    <a:pt x="1638445" y="873308"/>
                    <a:pt x="1632206" y="875892"/>
                    <a:pt x="1625700" y="875892"/>
                  </a:cubicBezTo>
                  <a:lnTo>
                    <a:pt x="24530" y="875892"/>
                  </a:lnTo>
                  <a:cubicBezTo>
                    <a:pt x="18024" y="875892"/>
                    <a:pt x="11785" y="873308"/>
                    <a:pt x="7185" y="868707"/>
                  </a:cubicBezTo>
                  <a:cubicBezTo>
                    <a:pt x="2584" y="864107"/>
                    <a:pt x="0" y="857868"/>
                    <a:pt x="0" y="851362"/>
                  </a:cubicBezTo>
                  <a:lnTo>
                    <a:pt x="0" y="24530"/>
                  </a:lnTo>
                  <a:cubicBezTo>
                    <a:pt x="0" y="18024"/>
                    <a:pt x="2584" y="11785"/>
                    <a:pt x="7185" y="7185"/>
                  </a:cubicBezTo>
                  <a:cubicBezTo>
                    <a:pt x="11785" y="2584"/>
                    <a:pt x="18024" y="0"/>
                    <a:pt x="24530" y="0"/>
                  </a:cubicBezTo>
                  <a:close/>
                </a:path>
              </a:pathLst>
            </a:custGeom>
            <a:solidFill>
              <a:srgbClr val="2A0DA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650230" cy="904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0086" y="6533193"/>
            <a:ext cx="9818228" cy="1124459"/>
            <a:chOff x="0" y="0"/>
            <a:chExt cx="3422476" cy="3919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422476" cy="391968"/>
            </a:xfrm>
            <a:custGeom>
              <a:avLst/>
              <a:gdLst/>
              <a:ahLst/>
              <a:cxnLst/>
              <a:rect l="l" t="t" r="r" b="b"/>
              <a:pathLst>
                <a:path w="3422476" h="391968">
                  <a:moveTo>
                    <a:pt x="0" y="0"/>
                  </a:moveTo>
                  <a:lnTo>
                    <a:pt x="3422476" y="0"/>
                  </a:lnTo>
                  <a:lnTo>
                    <a:pt x="3422476" y="391968"/>
                  </a:lnTo>
                  <a:lnTo>
                    <a:pt x="0" y="391968"/>
                  </a:lnTo>
                  <a:close/>
                </a:path>
              </a:pathLst>
            </a:custGeom>
            <a:solidFill>
              <a:srgbClr val="150068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3422476" cy="4205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03526" y="7137394"/>
            <a:ext cx="2304781" cy="321693"/>
            <a:chOff x="0" y="0"/>
            <a:chExt cx="3073041" cy="42892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28924" cy="428924"/>
            </a:xfrm>
            <a:custGeom>
              <a:avLst/>
              <a:gdLst/>
              <a:ahLst/>
              <a:cxnLst/>
              <a:rect l="l" t="t" r="r" b="b"/>
              <a:pathLst>
                <a:path w="428924" h="428924">
                  <a:moveTo>
                    <a:pt x="0" y="0"/>
                  </a:moveTo>
                  <a:lnTo>
                    <a:pt x="428924" y="0"/>
                  </a:lnTo>
                  <a:lnTo>
                    <a:pt x="428924" y="428924"/>
                  </a:lnTo>
                  <a:lnTo>
                    <a:pt x="0" y="428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428924" y="23952"/>
              <a:ext cx="2644117" cy="342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Radnika Next"/>
                  <a:ea typeface="Radnika Next"/>
                  <a:cs typeface="Radnika Next"/>
                  <a:sym typeface="Radnika Next"/>
                </a:rPr>
                <a:t>Atom Count Verified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768364" y="7138035"/>
            <a:ext cx="2000779" cy="321693"/>
            <a:chOff x="0" y="0"/>
            <a:chExt cx="2667705" cy="428924"/>
          </a:xfrm>
        </p:grpSpPr>
        <p:sp>
          <p:nvSpPr>
            <p:cNvPr id="12" name="TextBox 12"/>
            <p:cNvSpPr txBox="1"/>
            <p:nvPr/>
          </p:nvSpPr>
          <p:spPr>
            <a:xfrm>
              <a:off x="457418" y="23952"/>
              <a:ext cx="2210287" cy="342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Radnika Next"/>
                  <a:ea typeface="Radnika Next"/>
                  <a:cs typeface="Radnika Next"/>
                  <a:sym typeface="Radnika Next"/>
                </a:rPr>
                <a:t>Valence Checked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428924" cy="428924"/>
            </a:xfrm>
            <a:custGeom>
              <a:avLst/>
              <a:gdLst/>
              <a:ahLst/>
              <a:cxnLst/>
              <a:rect l="l" t="t" r="r" b="b"/>
              <a:pathLst>
                <a:path w="428924" h="428924">
                  <a:moveTo>
                    <a:pt x="0" y="0"/>
                  </a:moveTo>
                  <a:lnTo>
                    <a:pt x="428924" y="0"/>
                  </a:lnTo>
                  <a:lnTo>
                    <a:pt x="428924" y="428924"/>
                  </a:lnTo>
                  <a:lnTo>
                    <a:pt x="0" y="428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5090954" y="7138035"/>
            <a:ext cx="2379111" cy="321693"/>
            <a:chOff x="0" y="0"/>
            <a:chExt cx="3172148" cy="428924"/>
          </a:xfrm>
        </p:grpSpPr>
        <p:sp>
          <p:nvSpPr>
            <p:cNvPr id="15" name="TextBox 15"/>
            <p:cNvSpPr txBox="1"/>
            <p:nvPr/>
          </p:nvSpPr>
          <p:spPr>
            <a:xfrm>
              <a:off x="428924" y="23952"/>
              <a:ext cx="2743223" cy="342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Radnika Next"/>
                  <a:ea typeface="Radnika Next"/>
                  <a:cs typeface="Radnika Next"/>
                  <a:sym typeface="Radnika Next"/>
                </a:rPr>
                <a:t>Bond Order Checked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428924" cy="428924"/>
            </a:xfrm>
            <a:custGeom>
              <a:avLst/>
              <a:gdLst/>
              <a:ahLst/>
              <a:cxnLst/>
              <a:rect l="l" t="t" r="r" b="b"/>
              <a:pathLst>
                <a:path w="428924" h="428924">
                  <a:moveTo>
                    <a:pt x="0" y="0"/>
                  </a:moveTo>
                  <a:lnTo>
                    <a:pt x="428924" y="0"/>
                  </a:lnTo>
                  <a:lnTo>
                    <a:pt x="428924" y="428924"/>
                  </a:lnTo>
                  <a:lnTo>
                    <a:pt x="0" y="428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203526" y="3849747"/>
            <a:ext cx="4734098" cy="2512715"/>
            <a:chOff x="0" y="0"/>
            <a:chExt cx="1650230" cy="87589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50230" cy="875892"/>
            </a:xfrm>
            <a:custGeom>
              <a:avLst/>
              <a:gdLst/>
              <a:ahLst/>
              <a:cxnLst/>
              <a:rect l="l" t="t" r="r" b="b"/>
              <a:pathLst>
                <a:path w="1650230" h="875892">
                  <a:moveTo>
                    <a:pt x="24530" y="0"/>
                  </a:moveTo>
                  <a:lnTo>
                    <a:pt x="1625700" y="0"/>
                  </a:lnTo>
                  <a:cubicBezTo>
                    <a:pt x="1632206" y="0"/>
                    <a:pt x="1638445" y="2584"/>
                    <a:pt x="1643045" y="7185"/>
                  </a:cubicBezTo>
                  <a:cubicBezTo>
                    <a:pt x="1647646" y="11785"/>
                    <a:pt x="1650230" y="18024"/>
                    <a:pt x="1650230" y="24530"/>
                  </a:cubicBezTo>
                  <a:lnTo>
                    <a:pt x="1650230" y="851362"/>
                  </a:lnTo>
                  <a:cubicBezTo>
                    <a:pt x="1650230" y="857868"/>
                    <a:pt x="1647646" y="864107"/>
                    <a:pt x="1643045" y="868707"/>
                  </a:cubicBezTo>
                  <a:cubicBezTo>
                    <a:pt x="1638445" y="873308"/>
                    <a:pt x="1632206" y="875892"/>
                    <a:pt x="1625700" y="875892"/>
                  </a:cubicBezTo>
                  <a:lnTo>
                    <a:pt x="24530" y="875892"/>
                  </a:lnTo>
                  <a:cubicBezTo>
                    <a:pt x="18024" y="875892"/>
                    <a:pt x="11785" y="873308"/>
                    <a:pt x="7185" y="868707"/>
                  </a:cubicBezTo>
                  <a:cubicBezTo>
                    <a:pt x="2584" y="864107"/>
                    <a:pt x="0" y="857868"/>
                    <a:pt x="0" y="851362"/>
                  </a:cubicBezTo>
                  <a:lnTo>
                    <a:pt x="0" y="24530"/>
                  </a:lnTo>
                  <a:cubicBezTo>
                    <a:pt x="0" y="18024"/>
                    <a:pt x="2584" y="11785"/>
                    <a:pt x="7185" y="7185"/>
                  </a:cubicBezTo>
                  <a:cubicBezTo>
                    <a:pt x="11785" y="2584"/>
                    <a:pt x="18024" y="0"/>
                    <a:pt x="24530" y="0"/>
                  </a:cubicBezTo>
                  <a:close/>
                </a:path>
              </a:pathLst>
            </a:custGeom>
            <a:solidFill>
              <a:srgbClr val="2A0DA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1650230" cy="904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120777" y="1104352"/>
            <a:ext cx="4734098" cy="2512715"/>
            <a:chOff x="0" y="0"/>
            <a:chExt cx="1650230" cy="87589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650230" cy="875892"/>
            </a:xfrm>
            <a:custGeom>
              <a:avLst/>
              <a:gdLst/>
              <a:ahLst/>
              <a:cxnLst/>
              <a:rect l="l" t="t" r="r" b="b"/>
              <a:pathLst>
                <a:path w="1650230" h="875892">
                  <a:moveTo>
                    <a:pt x="24530" y="0"/>
                  </a:moveTo>
                  <a:lnTo>
                    <a:pt x="1625700" y="0"/>
                  </a:lnTo>
                  <a:cubicBezTo>
                    <a:pt x="1632206" y="0"/>
                    <a:pt x="1638445" y="2584"/>
                    <a:pt x="1643045" y="7185"/>
                  </a:cubicBezTo>
                  <a:cubicBezTo>
                    <a:pt x="1647646" y="11785"/>
                    <a:pt x="1650230" y="18024"/>
                    <a:pt x="1650230" y="24530"/>
                  </a:cubicBezTo>
                  <a:lnTo>
                    <a:pt x="1650230" y="851362"/>
                  </a:lnTo>
                  <a:cubicBezTo>
                    <a:pt x="1650230" y="857868"/>
                    <a:pt x="1647646" y="864107"/>
                    <a:pt x="1643045" y="868707"/>
                  </a:cubicBezTo>
                  <a:cubicBezTo>
                    <a:pt x="1638445" y="873308"/>
                    <a:pt x="1632206" y="875892"/>
                    <a:pt x="1625700" y="875892"/>
                  </a:cubicBezTo>
                  <a:lnTo>
                    <a:pt x="24530" y="875892"/>
                  </a:lnTo>
                  <a:cubicBezTo>
                    <a:pt x="18024" y="875892"/>
                    <a:pt x="11785" y="873308"/>
                    <a:pt x="7185" y="868707"/>
                  </a:cubicBezTo>
                  <a:cubicBezTo>
                    <a:pt x="2584" y="864107"/>
                    <a:pt x="0" y="857868"/>
                    <a:pt x="0" y="851362"/>
                  </a:cubicBezTo>
                  <a:lnTo>
                    <a:pt x="0" y="24530"/>
                  </a:lnTo>
                  <a:cubicBezTo>
                    <a:pt x="0" y="18024"/>
                    <a:pt x="2584" y="11785"/>
                    <a:pt x="7185" y="7185"/>
                  </a:cubicBezTo>
                  <a:cubicBezTo>
                    <a:pt x="11785" y="2584"/>
                    <a:pt x="18024" y="0"/>
                    <a:pt x="24530" y="0"/>
                  </a:cubicBezTo>
                  <a:close/>
                </a:path>
              </a:pathLst>
            </a:custGeom>
            <a:solidFill>
              <a:srgbClr val="2A0DA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1650230" cy="904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090954" y="3868078"/>
            <a:ext cx="4734098" cy="2512715"/>
            <a:chOff x="0" y="0"/>
            <a:chExt cx="1650230" cy="87589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650230" cy="875892"/>
            </a:xfrm>
            <a:custGeom>
              <a:avLst/>
              <a:gdLst/>
              <a:ahLst/>
              <a:cxnLst/>
              <a:rect l="l" t="t" r="r" b="b"/>
              <a:pathLst>
                <a:path w="1650230" h="875892">
                  <a:moveTo>
                    <a:pt x="24530" y="0"/>
                  </a:moveTo>
                  <a:lnTo>
                    <a:pt x="1625700" y="0"/>
                  </a:lnTo>
                  <a:cubicBezTo>
                    <a:pt x="1632206" y="0"/>
                    <a:pt x="1638445" y="2584"/>
                    <a:pt x="1643045" y="7185"/>
                  </a:cubicBezTo>
                  <a:cubicBezTo>
                    <a:pt x="1647646" y="11785"/>
                    <a:pt x="1650230" y="18024"/>
                    <a:pt x="1650230" y="24530"/>
                  </a:cubicBezTo>
                  <a:lnTo>
                    <a:pt x="1650230" y="851362"/>
                  </a:lnTo>
                  <a:cubicBezTo>
                    <a:pt x="1650230" y="857868"/>
                    <a:pt x="1647646" y="864107"/>
                    <a:pt x="1643045" y="868707"/>
                  </a:cubicBezTo>
                  <a:cubicBezTo>
                    <a:pt x="1638445" y="873308"/>
                    <a:pt x="1632206" y="875892"/>
                    <a:pt x="1625700" y="875892"/>
                  </a:cubicBezTo>
                  <a:lnTo>
                    <a:pt x="24530" y="875892"/>
                  </a:lnTo>
                  <a:cubicBezTo>
                    <a:pt x="18024" y="875892"/>
                    <a:pt x="11785" y="873308"/>
                    <a:pt x="7185" y="868707"/>
                  </a:cubicBezTo>
                  <a:cubicBezTo>
                    <a:pt x="2584" y="864107"/>
                    <a:pt x="0" y="857868"/>
                    <a:pt x="0" y="851362"/>
                  </a:cubicBezTo>
                  <a:lnTo>
                    <a:pt x="0" y="24530"/>
                  </a:lnTo>
                  <a:cubicBezTo>
                    <a:pt x="0" y="18024"/>
                    <a:pt x="2584" y="11785"/>
                    <a:pt x="7185" y="7185"/>
                  </a:cubicBezTo>
                  <a:cubicBezTo>
                    <a:pt x="11785" y="2584"/>
                    <a:pt x="18024" y="0"/>
                    <a:pt x="24530" y="0"/>
                  </a:cubicBezTo>
                  <a:close/>
                </a:path>
              </a:pathLst>
            </a:custGeom>
            <a:solidFill>
              <a:srgbClr val="2A0DA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1650230" cy="904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AutoShape 26"/>
          <p:cNvSpPr/>
          <p:nvPr/>
        </p:nvSpPr>
        <p:spPr>
          <a:xfrm>
            <a:off x="310661" y="1684898"/>
            <a:ext cx="4499464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AutoShape 27"/>
          <p:cNvSpPr/>
          <p:nvPr/>
        </p:nvSpPr>
        <p:spPr>
          <a:xfrm>
            <a:off x="5227223" y="1703948"/>
            <a:ext cx="4499464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AutoShape 28"/>
          <p:cNvSpPr/>
          <p:nvPr/>
        </p:nvSpPr>
        <p:spPr>
          <a:xfrm>
            <a:off x="345191" y="4466515"/>
            <a:ext cx="4499464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" name="AutoShape 29"/>
          <p:cNvSpPr/>
          <p:nvPr/>
        </p:nvSpPr>
        <p:spPr>
          <a:xfrm>
            <a:off x="5208271" y="4478712"/>
            <a:ext cx="4499464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0" name="Group 30"/>
          <p:cNvGrpSpPr/>
          <p:nvPr/>
        </p:nvGrpSpPr>
        <p:grpSpPr>
          <a:xfrm>
            <a:off x="7727240" y="7138035"/>
            <a:ext cx="2147247" cy="321693"/>
            <a:chOff x="0" y="0"/>
            <a:chExt cx="2862995" cy="428924"/>
          </a:xfrm>
        </p:grpSpPr>
        <p:sp>
          <p:nvSpPr>
            <p:cNvPr id="31" name="TextBox 31"/>
            <p:cNvSpPr txBox="1"/>
            <p:nvPr/>
          </p:nvSpPr>
          <p:spPr>
            <a:xfrm>
              <a:off x="428924" y="23952"/>
              <a:ext cx="2434071" cy="342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Radnika Next"/>
                  <a:ea typeface="Radnika Next"/>
                  <a:cs typeface="Radnika Next"/>
                  <a:sym typeface="Radnika Next"/>
                </a:rPr>
                <a:t>Same Connectivity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0" y="0"/>
              <a:ext cx="428924" cy="428924"/>
            </a:xfrm>
            <a:custGeom>
              <a:avLst/>
              <a:gdLst/>
              <a:ahLst/>
              <a:cxnLst/>
              <a:rect l="l" t="t" r="r" b="b"/>
              <a:pathLst>
                <a:path w="428924" h="428924">
                  <a:moveTo>
                    <a:pt x="0" y="0"/>
                  </a:moveTo>
                  <a:lnTo>
                    <a:pt x="428924" y="0"/>
                  </a:lnTo>
                  <a:lnTo>
                    <a:pt x="428924" y="428924"/>
                  </a:lnTo>
                  <a:lnTo>
                    <a:pt x="0" y="428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33" name="Group 33"/>
          <p:cNvGrpSpPr/>
          <p:nvPr/>
        </p:nvGrpSpPr>
        <p:grpSpPr>
          <a:xfrm>
            <a:off x="2685506" y="155481"/>
            <a:ext cx="4687388" cy="559269"/>
            <a:chOff x="0" y="0"/>
            <a:chExt cx="1633948" cy="19495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633948" cy="194952"/>
            </a:xfrm>
            <a:custGeom>
              <a:avLst/>
              <a:gdLst/>
              <a:ahLst/>
              <a:cxnLst/>
              <a:rect l="l" t="t" r="r" b="b"/>
              <a:pathLst>
                <a:path w="1633948" h="194952">
                  <a:moveTo>
                    <a:pt x="49549" y="0"/>
                  </a:moveTo>
                  <a:lnTo>
                    <a:pt x="1584398" y="0"/>
                  </a:lnTo>
                  <a:cubicBezTo>
                    <a:pt x="1597540" y="0"/>
                    <a:pt x="1610143" y="5220"/>
                    <a:pt x="1619435" y="14513"/>
                  </a:cubicBezTo>
                  <a:cubicBezTo>
                    <a:pt x="1628728" y="23805"/>
                    <a:pt x="1633948" y="36408"/>
                    <a:pt x="1633948" y="49549"/>
                  </a:cubicBezTo>
                  <a:lnTo>
                    <a:pt x="1633948" y="145403"/>
                  </a:lnTo>
                  <a:cubicBezTo>
                    <a:pt x="1633948" y="158544"/>
                    <a:pt x="1628728" y="171147"/>
                    <a:pt x="1619435" y="180439"/>
                  </a:cubicBezTo>
                  <a:cubicBezTo>
                    <a:pt x="1610143" y="189732"/>
                    <a:pt x="1597540" y="194952"/>
                    <a:pt x="1584398" y="194952"/>
                  </a:cubicBezTo>
                  <a:lnTo>
                    <a:pt x="49549" y="194952"/>
                  </a:lnTo>
                  <a:cubicBezTo>
                    <a:pt x="36408" y="194952"/>
                    <a:pt x="23805" y="189732"/>
                    <a:pt x="14513" y="180439"/>
                  </a:cubicBezTo>
                  <a:cubicBezTo>
                    <a:pt x="5220" y="171147"/>
                    <a:pt x="0" y="158544"/>
                    <a:pt x="0" y="145403"/>
                  </a:cubicBezTo>
                  <a:lnTo>
                    <a:pt x="0" y="49549"/>
                  </a:lnTo>
                  <a:cubicBezTo>
                    <a:pt x="0" y="36408"/>
                    <a:pt x="5220" y="23805"/>
                    <a:pt x="14513" y="14513"/>
                  </a:cubicBezTo>
                  <a:cubicBezTo>
                    <a:pt x="23805" y="5220"/>
                    <a:pt x="36408" y="0"/>
                    <a:pt x="49549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0" y="-28575"/>
              <a:ext cx="1633948" cy="2235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851454" y="1703948"/>
            <a:ext cx="3272742" cy="1849079"/>
            <a:chOff x="0" y="0"/>
            <a:chExt cx="4363657" cy="246543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363657" cy="2465439"/>
            </a:xfrm>
            <a:custGeom>
              <a:avLst/>
              <a:gdLst/>
              <a:ahLst/>
              <a:cxnLst/>
              <a:rect l="l" t="t" r="r" b="b"/>
              <a:pathLst>
                <a:path w="4363657" h="2465439">
                  <a:moveTo>
                    <a:pt x="0" y="0"/>
                  </a:moveTo>
                  <a:lnTo>
                    <a:pt x="4363657" y="0"/>
                  </a:lnTo>
                  <a:lnTo>
                    <a:pt x="4363657" y="2465439"/>
                  </a:lnTo>
                  <a:lnTo>
                    <a:pt x="0" y="24654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496" t="-55945" r="-9879" b="-57112"/>
              </a:stretch>
            </a:blipFill>
          </p:spPr>
        </p:sp>
        <p:sp>
          <p:nvSpPr>
            <p:cNvPr id="38" name="Freeform 38"/>
            <p:cNvSpPr/>
            <p:nvPr/>
          </p:nvSpPr>
          <p:spPr>
            <a:xfrm rot="10811563">
              <a:off x="3011933" y="868281"/>
              <a:ext cx="627556" cy="796578"/>
            </a:xfrm>
            <a:custGeom>
              <a:avLst/>
              <a:gdLst/>
              <a:ahLst/>
              <a:cxnLst/>
              <a:rect l="l" t="t" r="r" b="b"/>
              <a:pathLst>
                <a:path w="627556" h="796578">
                  <a:moveTo>
                    <a:pt x="0" y="152838"/>
                  </a:moveTo>
                  <a:lnTo>
                    <a:pt x="322079" y="0"/>
                  </a:lnTo>
                  <a:lnTo>
                    <a:pt x="627556" y="643741"/>
                  </a:lnTo>
                  <a:lnTo>
                    <a:pt x="305477" y="796578"/>
                  </a:lnTo>
                  <a:lnTo>
                    <a:pt x="0" y="152838"/>
                  </a:lnTo>
                  <a:close/>
                </a:path>
              </a:pathLst>
            </a:custGeom>
            <a:blipFill>
              <a:blip r:embed="rId4"/>
              <a:stretch>
                <a:fillRect l="-498530" t="-246627" r="-160260" b="-251159"/>
              </a:stretch>
            </a:blipFill>
          </p:spPr>
        </p:sp>
      </p:grpSp>
      <p:sp>
        <p:nvSpPr>
          <p:cNvPr id="39" name="TextBox 39"/>
          <p:cNvSpPr txBox="1"/>
          <p:nvPr/>
        </p:nvSpPr>
        <p:spPr>
          <a:xfrm>
            <a:off x="2889926" y="129533"/>
            <a:ext cx="4278548" cy="898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CARD 02</a:t>
            </a:r>
            <a:r>
              <a:rPr lang="en-US" sz="3000" b="1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- ETHANOL</a:t>
            </a:r>
          </a:p>
          <a:p>
            <a:pPr algn="ctr">
              <a:lnSpc>
                <a:spcPts val="2800"/>
              </a:lnSpc>
            </a:pPr>
            <a:r>
              <a:rPr lang="en-US" sz="2000" u="sng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Molecular Formula:</a:t>
            </a:r>
            <a:r>
              <a:rPr lang="en-US" sz="2000" b="1" u="sng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C2H60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164473" y="6628443"/>
            <a:ext cx="3729453" cy="382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b="1">
                <a:solidFill>
                  <a:srgbClr val="FFFFFF"/>
                </a:solidFill>
                <a:latin typeface="Radnika Next Bold"/>
                <a:ea typeface="Radnika Next Bold"/>
                <a:cs typeface="Radnika Next Bold"/>
                <a:sym typeface="Radnika Next Bold"/>
              </a:rPr>
              <a:t>- </a:t>
            </a:r>
            <a:r>
              <a:rPr lang="en-US" sz="2200" b="1" u="sng">
                <a:solidFill>
                  <a:srgbClr val="FFFFFF"/>
                </a:solidFill>
                <a:latin typeface="Radnika Next Bold"/>
                <a:ea typeface="Radnika Next Bold"/>
                <a:cs typeface="Radnika Next Bold"/>
                <a:sym typeface="Radnika Next Bold"/>
              </a:rPr>
              <a:t>VERIFICATION STRIP</a:t>
            </a:r>
            <a:r>
              <a:rPr lang="en-US" sz="2200" b="1">
                <a:solidFill>
                  <a:srgbClr val="FFFFFF"/>
                </a:solidFill>
                <a:latin typeface="Radnika Next Bold"/>
                <a:ea typeface="Radnika Next Bold"/>
                <a:cs typeface="Radnika Next Bold"/>
                <a:sym typeface="Radnika Next Bold"/>
              </a:rPr>
              <a:t> -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15251" y="1176611"/>
            <a:ext cx="2710647" cy="422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Knockout Welterweight Bold"/>
                <a:ea typeface="Knockout Welterweight Bold"/>
                <a:cs typeface="Knockout Welterweight Bold"/>
                <a:sym typeface="Knockout Welterweight Bold"/>
              </a:rPr>
              <a:t>MOLECULAR FORMULA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337665" y="1167086"/>
            <a:ext cx="2300321" cy="431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Knockout Welterweight Bold"/>
                <a:ea typeface="Knockout Welterweight Bold"/>
                <a:cs typeface="Knockout Welterweight Bold"/>
                <a:sym typeface="Knockout Welterweight Bold"/>
              </a:rPr>
              <a:t>LEWIS STRUCTURE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179949" y="3959967"/>
            <a:ext cx="2556107" cy="422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Knockout Welterweight Bold"/>
                <a:ea typeface="Knockout Welterweight Bold"/>
                <a:cs typeface="Knockout Welterweight Bold"/>
                <a:sym typeface="Knockout Welterweight Bold"/>
              </a:rPr>
              <a:t>BOND-LINE FORMULA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21851" y="3959967"/>
            <a:ext cx="4297447" cy="422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Knockout Welterweight Bold"/>
                <a:ea typeface="Knockout Welterweight Bold"/>
                <a:cs typeface="Knockout Welterweight Bold"/>
                <a:sym typeface="Knockout Welterweight Bold"/>
              </a:rPr>
              <a:t>CONDENSED STRUCTURAL FORMULA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16046" y="1981572"/>
            <a:ext cx="4194079" cy="1038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dirty="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C2H6O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21851" y="4847515"/>
            <a:ext cx="4343556" cy="692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dirty="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CH3CH2OH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5476145" y="4688262"/>
            <a:ext cx="4023360" cy="1618593"/>
            <a:chOff x="0" y="0"/>
            <a:chExt cx="5364480" cy="2158124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5364480" cy="2158124"/>
            </a:xfrm>
            <a:custGeom>
              <a:avLst/>
              <a:gdLst/>
              <a:ahLst/>
              <a:cxnLst/>
              <a:rect l="l" t="t" r="r" b="b"/>
              <a:pathLst>
                <a:path w="5364480" h="2158124">
                  <a:moveTo>
                    <a:pt x="0" y="0"/>
                  </a:moveTo>
                  <a:lnTo>
                    <a:pt x="5364480" y="0"/>
                  </a:lnTo>
                  <a:lnTo>
                    <a:pt x="5364480" y="2158124"/>
                  </a:lnTo>
                  <a:lnTo>
                    <a:pt x="0" y="21581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49" name="Freeform 49"/>
            <p:cNvSpPr/>
            <p:nvPr/>
          </p:nvSpPr>
          <p:spPr>
            <a:xfrm>
              <a:off x="3696634" y="254000"/>
              <a:ext cx="1295176" cy="1263320"/>
            </a:xfrm>
            <a:custGeom>
              <a:avLst/>
              <a:gdLst/>
              <a:ahLst/>
              <a:cxnLst/>
              <a:rect l="l" t="t" r="r" b="b"/>
              <a:pathLst>
                <a:path w="1295176" h="1263320">
                  <a:moveTo>
                    <a:pt x="0" y="0"/>
                  </a:moveTo>
                  <a:lnTo>
                    <a:pt x="1295176" y="0"/>
                  </a:lnTo>
                  <a:lnTo>
                    <a:pt x="1295176" y="1263320"/>
                  </a:lnTo>
                  <a:lnTo>
                    <a:pt x="0" y="1263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255837" t="-8005" b="-38757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3526" y="1104352"/>
            <a:ext cx="4734098" cy="2512715"/>
            <a:chOff x="0" y="0"/>
            <a:chExt cx="1650230" cy="8758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50230" cy="875892"/>
            </a:xfrm>
            <a:custGeom>
              <a:avLst/>
              <a:gdLst/>
              <a:ahLst/>
              <a:cxnLst/>
              <a:rect l="l" t="t" r="r" b="b"/>
              <a:pathLst>
                <a:path w="1650230" h="875892">
                  <a:moveTo>
                    <a:pt x="24530" y="0"/>
                  </a:moveTo>
                  <a:lnTo>
                    <a:pt x="1625700" y="0"/>
                  </a:lnTo>
                  <a:cubicBezTo>
                    <a:pt x="1632206" y="0"/>
                    <a:pt x="1638445" y="2584"/>
                    <a:pt x="1643045" y="7185"/>
                  </a:cubicBezTo>
                  <a:cubicBezTo>
                    <a:pt x="1647646" y="11785"/>
                    <a:pt x="1650230" y="18024"/>
                    <a:pt x="1650230" y="24530"/>
                  </a:cubicBezTo>
                  <a:lnTo>
                    <a:pt x="1650230" y="851362"/>
                  </a:lnTo>
                  <a:cubicBezTo>
                    <a:pt x="1650230" y="857868"/>
                    <a:pt x="1647646" y="864107"/>
                    <a:pt x="1643045" y="868707"/>
                  </a:cubicBezTo>
                  <a:cubicBezTo>
                    <a:pt x="1638445" y="873308"/>
                    <a:pt x="1632206" y="875892"/>
                    <a:pt x="1625700" y="875892"/>
                  </a:cubicBezTo>
                  <a:lnTo>
                    <a:pt x="24530" y="875892"/>
                  </a:lnTo>
                  <a:cubicBezTo>
                    <a:pt x="18024" y="875892"/>
                    <a:pt x="11785" y="873308"/>
                    <a:pt x="7185" y="868707"/>
                  </a:cubicBezTo>
                  <a:cubicBezTo>
                    <a:pt x="2584" y="864107"/>
                    <a:pt x="0" y="857868"/>
                    <a:pt x="0" y="851362"/>
                  </a:cubicBezTo>
                  <a:lnTo>
                    <a:pt x="0" y="24530"/>
                  </a:lnTo>
                  <a:cubicBezTo>
                    <a:pt x="0" y="18024"/>
                    <a:pt x="2584" y="11785"/>
                    <a:pt x="7185" y="7185"/>
                  </a:cubicBezTo>
                  <a:cubicBezTo>
                    <a:pt x="11785" y="2584"/>
                    <a:pt x="18024" y="0"/>
                    <a:pt x="24530" y="0"/>
                  </a:cubicBezTo>
                  <a:close/>
                </a:path>
              </a:pathLst>
            </a:custGeom>
            <a:solidFill>
              <a:srgbClr val="2A0DA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650230" cy="904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0086" y="6533193"/>
            <a:ext cx="9818228" cy="1124459"/>
            <a:chOff x="0" y="0"/>
            <a:chExt cx="3422476" cy="3919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422476" cy="391968"/>
            </a:xfrm>
            <a:custGeom>
              <a:avLst/>
              <a:gdLst/>
              <a:ahLst/>
              <a:cxnLst/>
              <a:rect l="l" t="t" r="r" b="b"/>
              <a:pathLst>
                <a:path w="3422476" h="391968">
                  <a:moveTo>
                    <a:pt x="0" y="0"/>
                  </a:moveTo>
                  <a:lnTo>
                    <a:pt x="3422476" y="0"/>
                  </a:lnTo>
                  <a:lnTo>
                    <a:pt x="3422476" y="391968"/>
                  </a:lnTo>
                  <a:lnTo>
                    <a:pt x="0" y="391968"/>
                  </a:lnTo>
                  <a:close/>
                </a:path>
              </a:pathLst>
            </a:custGeom>
            <a:solidFill>
              <a:srgbClr val="150068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3422476" cy="4205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03526" y="7137394"/>
            <a:ext cx="2304781" cy="321693"/>
            <a:chOff x="0" y="0"/>
            <a:chExt cx="3073041" cy="42892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28924" cy="428924"/>
            </a:xfrm>
            <a:custGeom>
              <a:avLst/>
              <a:gdLst/>
              <a:ahLst/>
              <a:cxnLst/>
              <a:rect l="l" t="t" r="r" b="b"/>
              <a:pathLst>
                <a:path w="428924" h="428924">
                  <a:moveTo>
                    <a:pt x="0" y="0"/>
                  </a:moveTo>
                  <a:lnTo>
                    <a:pt x="428924" y="0"/>
                  </a:lnTo>
                  <a:lnTo>
                    <a:pt x="428924" y="428924"/>
                  </a:lnTo>
                  <a:lnTo>
                    <a:pt x="0" y="428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428924" y="23952"/>
              <a:ext cx="2644117" cy="342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Radnika Next"/>
                  <a:ea typeface="Radnika Next"/>
                  <a:cs typeface="Radnika Next"/>
                  <a:sym typeface="Radnika Next"/>
                </a:rPr>
                <a:t>Atom Count Verified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768364" y="7138035"/>
            <a:ext cx="2000779" cy="321693"/>
            <a:chOff x="0" y="0"/>
            <a:chExt cx="2667705" cy="428924"/>
          </a:xfrm>
        </p:grpSpPr>
        <p:sp>
          <p:nvSpPr>
            <p:cNvPr id="12" name="TextBox 12"/>
            <p:cNvSpPr txBox="1"/>
            <p:nvPr/>
          </p:nvSpPr>
          <p:spPr>
            <a:xfrm>
              <a:off x="457418" y="23952"/>
              <a:ext cx="2210287" cy="342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Radnika Next"/>
                  <a:ea typeface="Radnika Next"/>
                  <a:cs typeface="Radnika Next"/>
                  <a:sym typeface="Radnika Next"/>
                </a:rPr>
                <a:t>Valence Checked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428924" cy="428924"/>
            </a:xfrm>
            <a:custGeom>
              <a:avLst/>
              <a:gdLst/>
              <a:ahLst/>
              <a:cxnLst/>
              <a:rect l="l" t="t" r="r" b="b"/>
              <a:pathLst>
                <a:path w="428924" h="428924">
                  <a:moveTo>
                    <a:pt x="0" y="0"/>
                  </a:moveTo>
                  <a:lnTo>
                    <a:pt x="428924" y="0"/>
                  </a:lnTo>
                  <a:lnTo>
                    <a:pt x="428924" y="428924"/>
                  </a:lnTo>
                  <a:lnTo>
                    <a:pt x="0" y="428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5090954" y="7138035"/>
            <a:ext cx="2379111" cy="321693"/>
            <a:chOff x="0" y="0"/>
            <a:chExt cx="3172148" cy="428924"/>
          </a:xfrm>
        </p:grpSpPr>
        <p:sp>
          <p:nvSpPr>
            <p:cNvPr id="15" name="TextBox 15"/>
            <p:cNvSpPr txBox="1"/>
            <p:nvPr/>
          </p:nvSpPr>
          <p:spPr>
            <a:xfrm>
              <a:off x="428924" y="23952"/>
              <a:ext cx="2743223" cy="342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Radnika Next"/>
                  <a:ea typeface="Radnika Next"/>
                  <a:cs typeface="Radnika Next"/>
                  <a:sym typeface="Radnika Next"/>
                </a:rPr>
                <a:t>Bond Order Checked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428924" cy="428924"/>
            </a:xfrm>
            <a:custGeom>
              <a:avLst/>
              <a:gdLst/>
              <a:ahLst/>
              <a:cxnLst/>
              <a:rect l="l" t="t" r="r" b="b"/>
              <a:pathLst>
                <a:path w="428924" h="428924">
                  <a:moveTo>
                    <a:pt x="0" y="0"/>
                  </a:moveTo>
                  <a:lnTo>
                    <a:pt x="428924" y="0"/>
                  </a:lnTo>
                  <a:lnTo>
                    <a:pt x="428924" y="428924"/>
                  </a:lnTo>
                  <a:lnTo>
                    <a:pt x="0" y="428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203526" y="3849747"/>
            <a:ext cx="4734098" cy="2512715"/>
            <a:chOff x="0" y="0"/>
            <a:chExt cx="1650230" cy="87589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50230" cy="875892"/>
            </a:xfrm>
            <a:custGeom>
              <a:avLst/>
              <a:gdLst/>
              <a:ahLst/>
              <a:cxnLst/>
              <a:rect l="l" t="t" r="r" b="b"/>
              <a:pathLst>
                <a:path w="1650230" h="875892">
                  <a:moveTo>
                    <a:pt x="24530" y="0"/>
                  </a:moveTo>
                  <a:lnTo>
                    <a:pt x="1625700" y="0"/>
                  </a:lnTo>
                  <a:cubicBezTo>
                    <a:pt x="1632206" y="0"/>
                    <a:pt x="1638445" y="2584"/>
                    <a:pt x="1643045" y="7185"/>
                  </a:cubicBezTo>
                  <a:cubicBezTo>
                    <a:pt x="1647646" y="11785"/>
                    <a:pt x="1650230" y="18024"/>
                    <a:pt x="1650230" y="24530"/>
                  </a:cubicBezTo>
                  <a:lnTo>
                    <a:pt x="1650230" y="851362"/>
                  </a:lnTo>
                  <a:cubicBezTo>
                    <a:pt x="1650230" y="857868"/>
                    <a:pt x="1647646" y="864107"/>
                    <a:pt x="1643045" y="868707"/>
                  </a:cubicBezTo>
                  <a:cubicBezTo>
                    <a:pt x="1638445" y="873308"/>
                    <a:pt x="1632206" y="875892"/>
                    <a:pt x="1625700" y="875892"/>
                  </a:cubicBezTo>
                  <a:lnTo>
                    <a:pt x="24530" y="875892"/>
                  </a:lnTo>
                  <a:cubicBezTo>
                    <a:pt x="18024" y="875892"/>
                    <a:pt x="11785" y="873308"/>
                    <a:pt x="7185" y="868707"/>
                  </a:cubicBezTo>
                  <a:cubicBezTo>
                    <a:pt x="2584" y="864107"/>
                    <a:pt x="0" y="857868"/>
                    <a:pt x="0" y="851362"/>
                  </a:cubicBezTo>
                  <a:lnTo>
                    <a:pt x="0" y="24530"/>
                  </a:lnTo>
                  <a:cubicBezTo>
                    <a:pt x="0" y="18024"/>
                    <a:pt x="2584" y="11785"/>
                    <a:pt x="7185" y="7185"/>
                  </a:cubicBezTo>
                  <a:cubicBezTo>
                    <a:pt x="11785" y="2584"/>
                    <a:pt x="18024" y="0"/>
                    <a:pt x="24530" y="0"/>
                  </a:cubicBezTo>
                  <a:close/>
                </a:path>
              </a:pathLst>
            </a:custGeom>
            <a:solidFill>
              <a:srgbClr val="2A0DA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1650230" cy="904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120777" y="1104352"/>
            <a:ext cx="4734098" cy="2512715"/>
            <a:chOff x="0" y="0"/>
            <a:chExt cx="1650230" cy="87589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650230" cy="875892"/>
            </a:xfrm>
            <a:custGeom>
              <a:avLst/>
              <a:gdLst/>
              <a:ahLst/>
              <a:cxnLst/>
              <a:rect l="l" t="t" r="r" b="b"/>
              <a:pathLst>
                <a:path w="1650230" h="875892">
                  <a:moveTo>
                    <a:pt x="24530" y="0"/>
                  </a:moveTo>
                  <a:lnTo>
                    <a:pt x="1625700" y="0"/>
                  </a:lnTo>
                  <a:cubicBezTo>
                    <a:pt x="1632206" y="0"/>
                    <a:pt x="1638445" y="2584"/>
                    <a:pt x="1643045" y="7185"/>
                  </a:cubicBezTo>
                  <a:cubicBezTo>
                    <a:pt x="1647646" y="11785"/>
                    <a:pt x="1650230" y="18024"/>
                    <a:pt x="1650230" y="24530"/>
                  </a:cubicBezTo>
                  <a:lnTo>
                    <a:pt x="1650230" y="851362"/>
                  </a:lnTo>
                  <a:cubicBezTo>
                    <a:pt x="1650230" y="857868"/>
                    <a:pt x="1647646" y="864107"/>
                    <a:pt x="1643045" y="868707"/>
                  </a:cubicBezTo>
                  <a:cubicBezTo>
                    <a:pt x="1638445" y="873308"/>
                    <a:pt x="1632206" y="875892"/>
                    <a:pt x="1625700" y="875892"/>
                  </a:cubicBezTo>
                  <a:lnTo>
                    <a:pt x="24530" y="875892"/>
                  </a:lnTo>
                  <a:cubicBezTo>
                    <a:pt x="18024" y="875892"/>
                    <a:pt x="11785" y="873308"/>
                    <a:pt x="7185" y="868707"/>
                  </a:cubicBezTo>
                  <a:cubicBezTo>
                    <a:pt x="2584" y="864107"/>
                    <a:pt x="0" y="857868"/>
                    <a:pt x="0" y="851362"/>
                  </a:cubicBezTo>
                  <a:lnTo>
                    <a:pt x="0" y="24530"/>
                  </a:lnTo>
                  <a:cubicBezTo>
                    <a:pt x="0" y="18024"/>
                    <a:pt x="2584" y="11785"/>
                    <a:pt x="7185" y="7185"/>
                  </a:cubicBezTo>
                  <a:cubicBezTo>
                    <a:pt x="11785" y="2584"/>
                    <a:pt x="18024" y="0"/>
                    <a:pt x="24530" y="0"/>
                  </a:cubicBezTo>
                  <a:close/>
                </a:path>
              </a:pathLst>
            </a:custGeom>
            <a:solidFill>
              <a:srgbClr val="2A0DA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1650230" cy="904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090954" y="3868078"/>
            <a:ext cx="4734098" cy="2512715"/>
            <a:chOff x="0" y="0"/>
            <a:chExt cx="1650230" cy="87589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650230" cy="875892"/>
            </a:xfrm>
            <a:custGeom>
              <a:avLst/>
              <a:gdLst/>
              <a:ahLst/>
              <a:cxnLst/>
              <a:rect l="l" t="t" r="r" b="b"/>
              <a:pathLst>
                <a:path w="1650230" h="875892">
                  <a:moveTo>
                    <a:pt x="24530" y="0"/>
                  </a:moveTo>
                  <a:lnTo>
                    <a:pt x="1625700" y="0"/>
                  </a:lnTo>
                  <a:cubicBezTo>
                    <a:pt x="1632206" y="0"/>
                    <a:pt x="1638445" y="2584"/>
                    <a:pt x="1643045" y="7185"/>
                  </a:cubicBezTo>
                  <a:cubicBezTo>
                    <a:pt x="1647646" y="11785"/>
                    <a:pt x="1650230" y="18024"/>
                    <a:pt x="1650230" y="24530"/>
                  </a:cubicBezTo>
                  <a:lnTo>
                    <a:pt x="1650230" y="851362"/>
                  </a:lnTo>
                  <a:cubicBezTo>
                    <a:pt x="1650230" y="857868"/>
                    <a:pt x="1647646" y="864107"/>
                    <a:pt x="1643045" y="868707"/>
                  </a:cubicBezTo>
                  <a:cubicBezTo>
                    <a:pt x="1638445" y="873308"/>
                    <a:pt x="1632206" y="875892"/>
                    <a:pt x="1625700" y="875892"/>
                  </a:cubicBezTo>
                  <a:lnTo>
                    <a:pt x="24530" y="875892"/>
                  </a:lnTo>
                  <a:cubicBezTo>
                    <a:pt x="18024" y="875892"/>
                    <a:pt x="11785" y="873308"/>
                    <a:pt x="7185" y="868707"/>
                  </a:cubicBezTo>
                  <a:cubicBezTo>
                    <a:pt x="2584" y="864107"/>
                    <a:pt x="0" y="857868"/>
                    <a:pt x="0" y="851362"/>
                  </a:cubicBezTo>
                  <a:lnTo>
                    <a:pt x="0" y="24530"/>
                  </a:lnTo>
                  <a:cubicBezTo>
                    <a:pt x="0" y="18024"/>
                    <a:pt x="2584" y="11785"/>
                    <a:pt x="7185" y="7185"/>
                  </a:cubicBezTo>
                  <a:cubicBezTo>
                    <a:pt x="11785" y="2584"/>
                    <a:pt x="18024" y="0"/>
                    <a:pt x="24530" y="0"/>
                  </a:cubicBezTo>
                  <a:close/>
                </a:path>
              </a:pathLst>
            </a:custGeom>
            <a:solidFill>
              <a:srgbClr val="2A0DA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1650230" cy="904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AutoShape 26"/>
          <p:cNvSpPr/>
          <p:nvPr/>
        </p:nvSpPr>
        <p:spPr>
          <a:xfrm>
            <a:off x="310661" y="1684898"/>
            <a:ext cx="4499464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AutoShape 27"/>
          <p:cNvSpPr/>
          <p:nvPr/>
        </p:nvSpPr>
        <p:spPr>
          <a:xfrm>
            <a:off x="5227223" y="1703948"/>
            <a:ext cx="4499464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AutoShape 28"/>
          <p:cNvSpPr/>
          <p:nvPr/>
        </p:nvSpPr>
        <p:spPr>
          <a:xfrm>
            <a:off x="345191" y="4466515"/>
            <a:ext cx="4499464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" name="AutoShape 29"/>
          <p:cNvSpPr/>
          <p:nvPr/>
        </p:nvSpPr>
        <p:spPr>
          <a:xfrm>
            <a:off x="5208271" y="4478712"/>
            <a:ext cx="4499464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0" name="Group 30"/>
          <p:cNvGrpSpPr/>
          <p:nvPr/>
        </p:nvGrpSpPr>
        <p:grpSpPr>
          <a:xfrm>
            <a:off x="7727240" y="7138035"/>
            <a:ext cx="2147247" cy="321693"/>
            <a:chOff x="0" y="0"/>
            <a:chExt cx="2862995" cy="428924"/>
          </a:xfrm>
        </p:grpSpPr>
        <p:sp>
          <p:nvSpPr>
            <p:cNvPr id="31" name="TextBox 31"/>
            <p:cNvSpPr txBox="1"/>
            <p:nvPr/>
          </p:nvSpPr>
          <p:spPr>
            <a:xfrm>
              <a:off x="428924" y="23952"/>
              <a:ext cx="2434071" cy="342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Radnika Next"/>
                  <a:ea typeface="Radnika Next"/>
                  <a:cs typeface="Radnika Next"/>
                  <a:sym typeface="Radnika Next"/>
                </a:rPr>
                <a:t>Same Connectivity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0" y="0"/>
              <a:ext cx="428924" cy="428924"/>
            </a:xfrm>
            <a:custGeom>
              <a:avLst/>
              <a:gdLst/>
              <a:ahLst/>
              <a:cxnLst/>
              <a:rect l="l" t="t" r="r" b="b"/>
              <a:pathLst>
                <a:path w="428924" h="428924">
                  <a:moveTo>
                    <a:pt x="0" y="0"/>
                  </a:moveTo>
                  <a:lnTo>
                    <a:pt x="428924" y="0"/>
                  </a:lnTo>
                  <a:lnTo>
                    <a:pt x="428924" y="428924"/>
                  </a:lnTo>
                  <a:lnTo>
                    <a:pt x="0" y="428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33" name="Group 33"/>
          <p:cNvGrpSpPr/>
          <p:nvPr/>
        </p:nvGrpSpPr>
        <p:grpSpPr>
          <a:xfrm>
            <a:off x="1291545" y="154558"/>
            <a:ext cx="7475309" cy="559269"/>
            <a:chOff x="0" y="0"/>
            <a:chExt cx="2605772" cy="19495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605772" cy="194952"/>
            </a:xfrm>
            <a:custGeom>
              <a:avLst/>
              <a:gdLst/>
              <a:ahLst/>
              <a:cxnLst/>
              <a:rect l="l" t="t" r="r" b="b"/>
              <a:pathLst>
                <a:path w="2605772" h="194952">
                  <a:moveTo>
                    <a:pt x="31070" y="0"/>
                  </a:moveTo>
                  <a:lnTo>
                    <a:pt x="2574702" y="0"/>
                  </a:lnTo>
                  <a:cubicBezTo>
                    <a:pt x="2582943" y="0"/>
                    <a:pt x="2590845" y="3273"/>
                    <a:pt x="2596672" y="9100"/>
                  </a:cubicBezTo>
                  <a:cubicBezTo>
                    <a:pt x="2602499" y="14927"/>
                    <a:pt x="2605772" y="22830"/>
                    <a:pt x="2605772" y="31070"/>
                  </a:cubicBezTo>
                  <a:lnTo>
                    <a:pt x="2605772" y="163882"/>
                  </a:lnTo>
                  <a:cubicBezTo>
                    <a:pt x="2605772" y="172122"/>
                    <a:pt x="2602499" y="180025"/>
                    <a:pt x="2596672" y="185852"/>
                  </a:cubicBezTo>
                  <a:cubicBezTo>
                    <a:pt x="2590845" y="191679"/>
                    <a:pt x="2582943" y="194952"/>
                    <a:pt x="2574702" y="194952"/>
                  </a:cubicBezTo>
                  <a:lnTo>
                    <a:pt x="31070" y="194952"/>
                  </a:lnTo>
                  <a:cubicBezTo>
                    <a:pt x="22830" y="194952"/>
                    <a:pt x="14927" y="191679"/>
                    <a:pt x="9100" y="185852"/>
                  </a:cubicBezTo>
                  <a:cubicBezTo>
                    <a:pt x="3273" y="180025"/>
                    <a:pt x="0" y="172122"/>
                    <a:pt x="0" y="163882"/>
                  </a:cubicBezTo>
                  <a:lnTo>
                    <a:pt x="0" y="31070"/>
                  </a:lnTo>
                  <a:cubicBezTo>
                    <a:pt x="0" y="22830"/>
                    <a:pt x="3273" y="14927"/>
                    <a:pt x="9100" y="9100"/>
                  </a:cubicBezTo>
                  <a:cubicBezTo>
                    <a:pt x="14927" y="3273"/>
                    <a:pt x="22830" y="0"/>
                    <a:pt x="31070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0" y="-28575"/>
              <a:ext cx="2605772" cy="2235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795665" y="1704909"/>
            <a:ext cx="3529001" cy="1867894"/>
            <a:chOff x="0" y="0"/>
            <a:chExt cx="4705335" cy="2490525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705335" cy="2490525"/>
            </a:xfrm>
            <a:custGeom>
              <a:avLst/>
              <a:gdLst/>
              <a:ahLst/>
              <a:cxnLst/>
              <a:rect l="l" t="t" r="r" b="b"/>
              <a:pathLst>
                <a:path w="4705335" h="2490525">
                  <a:moveTo>
                    <a:pt x="0" y="0"/>
                  </a:moveTo>
                  <a:lnTo>
                    <a:pt x="4705335" y="0"/>
                  </a:lnTo>
                  <a:lnTo>
                    <a:pt x="4705335" y="2490525"/>
                  </a:lnTo>
                  <a:lnTo>
                    <a:pt x="0" y="2490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640" t="-58983" r="-6920" b="-61234"/>
              </a:stretch>
            </a:blipFill>
          </p:spPr>
        </p:sp>
        <p:sp>
          <p:nvSpPr>
            <p:cNvPr id="38" name="Freeform 38"/>
            <p:cNvSpPr/>
            <p:nvPr/>
          </p:nvSpPr>
          <p:spPr>
            <a:xfrm>
              <a:off x="1834271" y="86542"/>
              <a:ext cx="856063" cy="437454"/>
            </a:xfrm>
            <a:custGeom>
              <a:avLst/>
              <a:gdLst/>
              <a:ahLst/>
              <a:cxnLst/>
              <a:rect l="l" t="t" r="r" b="b"/>
              <a:pathLst>
                <a:path w="856063" h="437454">
                  <a:moveTo>
                    <a:pt x="0" y="0"/>
                  </a:moveTo>
                  <a:lnTo>
                    <a:pt x="856062" y="0"/>
                  </a:lnTo>
                  <a:lnTo>
                    <a:pt x="856062" y="437454"/>
                  </a:lnTo>
                  <a:lnTo>
                    <a:pt x="0" y="4374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50981" t="-318209" r="-256122" b="-769844"/>
              </a:stretch>
            </a:blipFill>
          </p:spPr>
        </p:sp>
      </p:grpSp>
      <p:sp>
        <p:nvSpPr>
          <p:cNvPr id="39" name="TextBox 39"/>
          <p:cNvSpPr txBox="1"/>
          <p:nvPr/>
        </p:nvSpPr>
        <p:spPr>
          <a:xfrm>
            <a:off x="1447801" y="129533"/>
            <a:ext cx="7044438" cy="8986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CARD 03 </a:t>
            </a:r>
            <a:r>
              <a:rPr lang="en-US" sz="3000" b="1" dirty="0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- ACETONE (propan-2-one)</a:t>
            </a:r>
          </a:p>
          <a:p>
            <a:pPr algn="ctr">
              <a:lnSpc>
                <a:spcPts val="2800"/>
              </a:lnSpc>
            </a:pPr>
            <a:r>
              <a:rPr lang="en-US" sz="2000" u="sng" dirty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Molecular Formula:</a:t>
            </a:r>
            <a:r>
              <a:rPr lang="en-US" sz="2000" b="1" u="sng" dirty="0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C3H60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164473" y="6628443"/>
            <a:ext cx="3729453" cy="382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b="1">
                <a:solidFill>
                  <a:srgbClr val="FFFFFF"/>
                </a:solidFill>
                <a:latin typeface="Radnika Next Bold"/>
                <a:ea typeface="Radnika Next Bold"/>
                <a:cs typeface="Radnika Next Bold"/>
                <a:sym typeface="Radnika Next Bold"/>
              </a:rPr>
              <a:t>- </a:t>
            </a:r>
            <a:r>
              <a:rPr lang="en-US" sz="2200" b="1" u="sng">
                <a:solidFill>
                  <a:srgbClr val="FFFFFF"/>
                </a:solidFill>
                <a:latin typeface="Radnika Next Bold"/>
                <a:ea typeface="Radnika Next Bold"/>
                <a:cs typeface="Radnika Next Bold"/>
                <a:sym typeface="Radnika Next Bold"/>
              </a:rPr>
              <a:t>VERIFICATION STRIP</a:t>
            </a:r>
            <a:r>
              <a:rPr lang="en-US" sz="2200" b="1">
                <a:solidFill>
                  <a:srgbClr val="FFFFFF"/>
                </a:solidFill>
                <a:latin typeface="Radnika Next Bold"/>
                <a:ea typeface="Radnika Next Bold"/>
                <a:cs typeface="Radnika Next Bold"/>
                <a:sym typeface="Radnika Next Bold"/>
              </a:rPr>
              <a:t> -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15251" y="1176611"/>
            <a:ext cx="2710647" cy="422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Knockout Welterweight Bold"/>
                <a:ea typeface="Knockout Welterweight Bold"/>
                <a:cs typeface="Knockout Welterweight Bold"/>
                <a:sym typeface="Knockout Welterweight Bold"/>
              </a:rPr>
              <a:t>MOLECULAR FORMULA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337665" y="1167086"/>
            <a:ext cx="2300321" cy="431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Knockout Welterweight Bold"/>
                <a:ea typeface="Knockout Welterweight Bold"/>
                <a:cs typeface="Knockout Welterweight Bold"/>
                <a:sym typeface="Knockout Welterweight Bold"/>
              </a:rPr>
              <a:t>LEWIS STRUCTURE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179949" y="3959967"/>
            <a:ext cx="2556107" cy="422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Knockout Welterweight Bold"/>
                <a:ea typeface="Knockout Welterweight Bold"/>
                <a:cs typeface="Knockout Welterweight Bold"/>
                <a:sym typeface="Knockout Welterweight Bold"/>
              </a:rPr>
              <a:t>BOND-LINE FORMULA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21851" y="3959967"/>
            <a:ext cx="4297447" cy="422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Knockout Welterweight Bold"/>
                <a:ea typeface="Knockout Welterweight Bold"/>
                <a:cs typeface="Knockout Welterweight Bold"/>
                <a:sym typeface="Knockout Welterweight Bold"/>
              </a:rPr>
              <a:t>CONDENSED STRUCTURAL FORMULA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09600" y="1973260"/>
            <a:ext cx="4109155" cy="1038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dirty="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C3H6O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21851" y="4847515"/>
            <a:ext cx="4358003" cy="759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4000" dirty="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CH3COCH3</a:t>
            </a:r>
            <a:endParaRPr lang="en-US" sz="4500" dirty="0">
              <a:solidFill>
                <a:srgbClr val="FFFFFF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grpSp>
        <p:nvGrpSpPr>
          <p:cNvPr id="47" name="Group 47"/>
          <p:cNvGrpSpPr/>
          <p:nvPr/>
        </p:nvGrpSpPr>
        <p:grpSpPr>
          <a:xfrm>
            <a:off x="6507550" y="4446710"/>
            <a:ext cx="2112922" cy="1962659"/>
            <a:chOff x="0" y="0"/>
            <a:chExt cx="2817230" cy="2616878"/>
          </a:xfrm>
        </p:grpSpPr>
        <p:sp>
          <p:nvSpPr>
            <p:cNvPr id="48" name="Freeform 48"/>
            <p:cNvSpPr/>
            <p:nvPr/>
          </p:nvSpPr>
          <p:spPr>
            <a:xfrm>
              <a:off x="0" y="26407"/>
              <a:ext cx="2817230" cy="2590471"/>
            </a:xfrm>
            <a:custGeom>
              <a:avLst/>
              <a:gdLst/>
              <a:ahLst/>
              <a:cxnLst/>
              <a:rect l="l" t="t" r="r" b="b"/>
              <a:pathLst>
                <a:path w="2817230" h="2590471">
                  <a:moveTo>
                    <a:pt x="0" y="0"/>
                  </a:moveTo>
                  <a:lnTo>
                    <a:pt x="2817230" y="0"/>
                  </a:lnTo>
                  <a:lnTo>
                    <a:pt x="2817230" y="2590471"/>
                  </a:lnTo>
                  <a:lnTo>
                    <a:pt x="0" y="25904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4403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49" name="Freeform 49"/>
            <p:cNvSpPr/>
            <p:nvPr/>
          </p:nvSpPr>
          <p:spPr>
            <a:xfrm>
              <a:off x="1047872" y="0"/>
              <a:ext cx="747735" cy="548639"/>
            </a:xfrm>
            <a:custGeom>
              <a:avLst/>
              <a:gdLst/>
              <a:ahLst/>
              <a:cxnLst/>
              <a:rect l="l" t="t" r="r" b="b"/>
              <a:pathLst>
                <a:path w="747735" h="548639">
                  <a:moveTo>
                    <a:pt x="0" y="0"/>
                  </a:moveTo>
                  <a:lnTo>
                    <a:pt x="747735" y="0"/>
                  </a:lnTo>
                  <a:lnTo>
                    <a:pt x="747735" y="548639"/>
                  </a:lnTo>
                  <a:lnTo>
                    <a:pt x="0" y="548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126841" r="-123834" b="-358814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3526" y="1104352"/>
            <a:ext cx="4734098" cy="2512715"/>
            <a:chOff x="0" y="0"/>
            <a:chExt cx="1650230" cy="8758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50230" cy="875892"/>
            </a:xfrm>
            <a:custGeom>
              <a:avLst/>
              <a:gdLst/>
              <a:ahLst/>
              <a:cxnLst/>
              <a:rect l="l" t="t" r="r" b="b"/>
              <a:pathLst>
                <a:path w="1650230" h="875892">
                  <a:moveTo>
                    <a:pt x="24530" y="0"/>
                  </a:moveTo>
                  <a:lnTo>
                    <a:pt x="1625700" y="0"/>
                  </a:lnTo>
                  <a:cubicBezTo>
                    <a:pt x="1632206" y="0"/>
                    <a:pt x="1638445" y="2584"/>
                    <a:pt x="1643045" y="7185"/>
                  </a:cubicBezTo>
                  <a:cubicBezTo>
                    <a:pt x="1647646" y="11785"/>
                    <a:pt x="1650230" y="18024"/>
                    <a:pt x="1650230" y="24530"/>
                  </a:cubicBezTo>
                  <a:lnTo>
                    <a:pt x="1650230" y="851362"/>
                  </a:lnTo>
                  <a:cubicBezTo>
                    <a:pt x="1650230" y="857868"/>
                    <a:pt x="1647646" y="864107"/>
                    <a:pt x="1643045" y="868707"/>
                  </a:cubicBezTo>
                  <a:cubicBezTo>
                    <a:pt x="1638445" y="873308"/>
                    <a:pt x="1632206" y="875892"/>
                    <a:pt x="1625700" y="875892"/>
                  </a:cubicBezTo>
                  <a:lnTo>
                    <a:pt x="24530" y="875892"/>
                  </a:lnTo>
                  <a:cubicBezTo>
                    <a:pt x="18024" y="875892"/>
                    <a:pt x="11785" y="873308"/>
                    <a:pt x="7185" y="868707"/>
                  </a:cubicBezTo>
                  <a:cubicBezTo>
                    <a:pt x="2584" y="864107"/>
                    <a:pt x="0" y="857868"/>
                    <a:pt x="0" y="851362"/>
                  </a:cubicBezTo>
                  <a:lnTo>
                    <a:pt x="0" y="24530"/>
                  </a:lnTo>
                  <a:cubicBezTo>
                    <a:pt x="0" y="18024"/>
                    <a:pt x="2584" y="11785"/>
                    <a:pt x="7185" y="7185"/>
                  </a:cubicBezTo>
                  <a:cubicBezTo>
                    <a:pt x="11785" y="2584"/>
                    <a:pt x="18024" y="0"/>
                    <a:pt x="24530" y="0"/>
                  </a:cubicBezTo>
                  <a:close/>
                </a:path>
              </a:pathLst>
            </a:custGeom>
            <a:solidFill>
              <a:srgbClr val="2A0DA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650230" cy="904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0086" y="6533193"/>
            <a:ext cx="9818228" cy="1124459"/>
            <a:chOff x="0" y="0"/>
            <a:chExt cx="3422476" cy="3919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422476" cy="391968"/>
            </a:xfrm>
            <a:custGeom>
              <a:avLst/>
              <a:gdLst/>
              <a:ahLst/>
              <a:cxnLst/>
              <a:rect l="l" t="t" r="r" b="b"/>
              <a:pathLst>
                <a:path w="3422476" h="391968">
                  <a:moveTo>
                    <a:pt x="0" y="0"/>
                  </a:moveTo>
                  <a:lnTo>
                    <a:pt x="3422476" y="0"/>
                  </a:lnTo>
                  <a:lnTo>
                    <a:pt x="3422476" y="391968"/>
                  </a:lnTo>
                  <a:lnTo>
                    <a:pt x="0" y="391968"/>
                  </a:lnTo>
                  <a:close/>
                </a:path>
              </a:pathLst>
            </a:custGeom>
            <a:solidFill>
              <a:srgbClr val="150068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3422476" cy="4205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03526" y="7137394"/>
            <a:ext cx="2304781" cy="321693"/>
            <a:chOff x="0" y="0"/>
            <a:chExt cx="3073041" cy="42892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28924" cy="428924"/>
            </a:xfrm>
            <a:custGeom>
              <a:avLst/>
              <a:gdLst/>
              <a:ahLst/>
              <a:cxnLst/>
              <a:rect l="l" t="t" r="r" b="b"/>
              <a:pathLst>
                <a:path w="428924" h="428924">
                  <a:moveTo>
                    <a:pt x="0" y="0"/>
                  </a:moveTo>
                  <a:lnTo>
                    <a:pt x="428924" y="0"/>
                  </a:lnTo>
                  <a:lnTo>
                    <a:pt x="428924" y="428924"/>
                  </a:lnTo>
                  <a:lnTo>
                    <a:pt x="0" y="428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428924" y="23952"/>
              <a:ext cx="2644117" cy="342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Radnika Next"/>
                  <a:ea typeface="Radnika Next"/>
                  <a:cs typeface="Radnika Next"/>
                  <a:sym typeface="Radnika Next"/>
                </a:rPr>
                <a:t>Atom Count Verified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768364" y="7138035"/>
            <a:ext cx="2000779" cy="321693"/>
            <a:chOff x="0" y="0"/>
            <a:chExt cx="2667705" cy="428924"/>
          </a:xfrm>
        </p:grpSpPr>
        <p:sp>
          <p:nvSpPr>
            <p:cNvPr id="12" name="TextBox 12"/>
            <p:cNvSpPr txBox="1"/>
            <p:nvPr/>
          </p:nvSpPr>
          <p:spPr>
            <a:xfrm>
              <a:off x="457418" y="23952"/>
              <a:ext cx="2210287" cy="342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Radnika Next"/>
                  <a:ea typeface="Radnika Next"/>
                  <a:cs typeface="Radnika Next"/>
                  <a:sym typeface="Radnika Next"/>
                </a:rPr>
                <a:t>Valence Checked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428924" cy="428924"/>
            </a:xfrm>
            <a:custGeom>
              <a:avLst/>
              <a:gdLst/>
              <a:ahLst/>
              <a:cxnLst/>
              <a:rect l="l" t="t" r="r" b="b"/>
              <a:pathLst>
                <a:path w="428924" h="428924">
                  <a:moveTo>
                    <a:pt x="0" y="0"/>
                  </a:moveTo>
                  <a:lnTo>
                    <a:pt x="428924" y="0"/>
                  </a:lnTo>
                  <a:lnTo>
                    <a:pt x="428924" y="428924"/>
                  </a:lnTo>
                  <a:lnTo>
                    <a:pt x="0" y="428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5090954" y="7138035"/>
            <a:ext cx="2379111" cy="321693"/>
            <a:chOff x="0" y="0"/>
            <a:chExt cx="3172148" cy="428924"/>
          </a:xfrm>
        </p:grpSpPr>
        <p:sp>
          <p:nvSpPr>
            <p:cNvPr id="15" name="TextBox 15"/>
            <p:cNvSpPr txBox="1"/>
            <p:nvPr/>
          </p:nvSpPr>
          <p:spPr>
            <a:xfrm>
              <a:off x="428924" y="23952"/>
              <a:ext cx="2743223" cy="342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Radnika Next"/>
                  <a:ea typeface="Radnika Next"/>
                  <a:cs typeface="Radnika Next"/>
                  <a:sym typeface="Radnika Next"/>
                </a:rPr>
                <a:t>Bond Order Checked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428924" cy="428924"/>
            </a:xfrm>
            <a:custGeom>
              <a:avLst/>
              <a:gdLst/>
              <a:ahLst/>
              <a:cxnLst/>
              <a:rect l="l" t="t" r="r" b="b"/>
              <a:pathLst>
                <a:path w="428924" h="428924">
                  <a:moveTo>
                    <a:pt x="0" y="0"/>
                  </a:moveTo>
                  <a:lnTo>
                    <a:pt x="428924" y="0"/>
                  </a:lnTo>
                  <a:lnTo>
                    <a:pt x="428924" y="428924"/>
                  </a:lnTo>
                  <a:lnTo>
                    <a:pt x="0" y="428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203526" y="3849747"/>
            <a:ext cx="4734098" cy="2512715"/>
            <a:chOff x="0" y="0"/>
            <a:chExt cx="1650230" cy="87589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50230" cy="875892"/>
            </a:xfrm>
            <a:custGeom>
              <a:avLst/>
              <a:gdLst/>
              <a:ahLst/>
              <a:cxnLst/>
              <a:rect l="l" t="t" r="r" b="b"/>
              <a:pathLst>
                <a:path w="1650230" h="875892">
                  <a:moveTo>
                    <a:pt x="24530" y="0"/>
                  </a:moveTo>
                  <a:lnTo>
                    <a:pt x="1625700" y="0"/>
                  </a:lnTo>
                  <a:cubicBezTo>
                    <a:pt x="1632206" y="0"/>
                    <a:pt x="1638445" y="2584"/>
                    <a:pt x="1643045" y="7185"/>
                  </a:cubicBezTo>
                  <a:cubicBezTo>
                    <a:pt x="1647646" y="11785"/>
                    <a:pt x="1650230" y="18024"/>
                    <a:pt x="1650230" y="24530"/>
                  </a:cubicBezTo>
                  <a:lnTo>
                    <a:pt x="1650230" y="851362"/>
                  </a:lnTo>
                  <a:cubicBezTo>
                    <a:pt x="1650230" y="857868"/>
                    <a:pt x="1647646" y="864107"/>
                    <a:pt x="1643045" y="868707"/>
                  </a:cubicBezTo>
                  <a:cubicBezTo>
                    <a:pt x="1638445" y="873308"/>
                    <a:pt x="1632206" y="875892"/>
                    <a:pt x="1625700" y="875892"/>
                  </a:cubicBezTo>
                  <a:lnTo>
                    <a:pt x="24530" y="875892"/>
                  </a:lnTo>
                  <a:cubicBezTo>
                    <a:pt x="18024" y="875892"/>
                    <a:pt x="11785" y="873308"/>
                    <a:pt x="7185" y="868707"/>
                  </a:cubicBezTo>
                  <a:cubicBezTo>
                    <a:pt x="2584" y="864107"/>
                    <a:pt x="0" y="857868"/>
                    <a:pt x="0" y="851362"/>
                  </a:cubicBezTo>
                  <a:lnTo>
                    <a:pt x="0" y="24530"/>
                  </a:lnTo>
                  <a:cubicBezTo>
                    <a:pt x="0" y="18024"/>
                    <a:pt x="2584" y="11785"/>
                    <a:pt x="7185" y="7185"/>
                  </a:cubicBezTo>
                  <a:cubicBezTo>
                    <a:pt x="11785" y="2584"/>
                    <a:pt x="18024" y="0"/>
                    <a:pt x="24530" y="0"/>
                  </a:cubicBezTo>
                  <a:close/>
                </a:path>
              </a:pathLst>
            </a:custGeom>
            <a:solidFill>
              <a:srgbClr val="2A0DA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1650230" cy="904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120777" y="1104352"/>
            <a:ext cx="4734098" cy="2512715"/>
            <a:chOff x="0" y="0"/>
            <a:chExt cx="1650230" cy="87589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650230" cy="875892"/>
            </a:xfrm>
            <a:custGeom>
              <a:avLst/>
              <a:gdLst/>
              <a:ahLst/>
              <a:cxnLst/>
              <a:rect l="l" t="t" r="r" b="b"/>
              <a:pathLst>
                <a:path w="1650230" h="875892">
                  <a:moveTo>
                    <a:pt x="24530" y="0"/>
                  </a:moveTo>
                  <a:lnTo>
                    <a:pt x="1625700" y="0"/>
                  </a:lnTo>
                  <a:cubicBezTo>
                    <a:pt x="1632206" y="0"/>
                    <a:pt x="1638445" y="2584"/>
                    <a:pt x="1643045" y="7185"/>
                  </a:cubicBezTo>
                  <a:cubicBezTo>
                    <a:pt x="1647646" y="11785"/>
                    <a:pt x="1650230" y="18024"/>
                    <a:pt x="1650230" y="24530"/>
                  </a:cubicBezTo>
                  <a:lnTo>
                    <a:pt x="1650230" y="851362"/>
                  </a:lnTo>
                  <a:cubicBezTo>
                    <a:pt x="1650230" y="857868"/>
                    <a:pt x="1647646" y="864107"/>
                    <a:pt x="1643045" y="868707"/>
                  </a:cubicBezTo>
                  <a:cubicBezTo>
                    <a:pt x="1638445" y="873308"/>
                    <a:pt x="1632206" y="875892"/>
                    <a:pt x="1625700" y="875892"/>
                  </a:cubicBezTo>
                  <a:lnTo>
                    <a:pt x="24530" y="875892"/>
                  </a:lnTo>
                  <a:cubicBezTo>
                    <a:pt x="18024" y="875892"/>
                    <a:pt x="11785" y="873308"/>
                    <a:pt x="7185" y="868707"/>
                  </a:cubicBezTo>
                  <a:cubicBezTo>
                    <a:pt x="2584" y="864107"/>
                    <a:pt x="0" y="857868"/>
                    <a:pt x="0" y="851362"/>
                  </a:cubicBezTo>
                  <a:lnTo>
                    <a:pt x="0" y="24530"/>
                  </a:lnTo>
                  <a:cubicBezTo>
                    <a:pt x="0" y="18024"/>
                    <a:pt x="2584" y="11785"/>
                    <a:pt x="7185" y="7185"/>
                  </a:cubicBezTo>
                  <a:cubicBezTo>
                    <a:pt x="11785" y="2584"/>
                    <a:pt x="18024" y="0"/>
                    <a:pt x="24530" y="0"/>
                  </a:cubicBezTo>
                  <a:close/>
                </a:path>
              </a:pathLst>
            </a:custGeom>
            <a:solidFill>
              <a:srgbClr val="2A0DA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1650230" cy="904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090954" y="3868078"/>
            <a:ext cx="4734098" cy="2512715"/>
            <a:chOff x="0" y="0"/>
            <a:chExt cx="1650230" cy="87589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650230" cy="875892"/>
            </a:xfrm>
            <a:custGeom>
              <a:avLst/>
              <a:gdLst/>
              <a:ahLst/>
              <a:cxnLst/>
              <a:rect l="l" t="t" r="r" b="b"/>
              <a:pathLst>
                <a:path w="1650230" h="875892">
                  <a:moveTo>
                    <a:pt x="24530" y="0"/>
                  </a:moveTo>
                  <a:lnTo>
                    <a:pt x="1625700" y="0"/>
                  </a:lnTo>
                  <a:cubicBezTo>
                    <a:pt x="1632206" y="0"/>
                    <a:pt x="1638445" y="2584"/>
                    <a:pt x="1643045" y="7185"/>
                  </a:cubicBezTo>
                  <a:cubicBezTo>
                    <a:pt x="1647646" y="11785"/>
                    <a:pt x="1650230" y="18024"/>
                    <a:pt x="1650230" y="24530"/>
                  </a:cubicBezTo>
                  <a:lnTo>
                    <a:pt x="1650230" y="851362"/>
                  </a:lnTo>
                  <a:cubicBezTo>
                    <a:pt x="1650230" y="857868"/>
                    <a:pt x="1647646" y="864107"/>
                    <a:pt x="1643045" y="868707"/>
                  </a:cubicBezTo>
                  <a:cubicBezTo>
                    <a:pt x="1638445" y="873308"/>
                    <a:pt x="1632206" y="875892"/>
                    <a:pt x="1625700" y="875892"/>
                  </a:cubicBezTo>
                  <a:lnTo>
                    <a:pt x="24530" y="875892"/>
                  </a:lnTo>
                  <a:cubicBezTo>
                    <a:pt x="18024" y="875892"/>
                    <a:pt x="11785" y="873308"/>
                    <a:pt x="7185" y="868707"/>
                  </a:cubicBezTo>
                  <a:cubicBezTo>
                    <a:pt x="2584" y="864107"/>
                    <a:pt x="0" y="857868"/>
                    <a:pt x="0" y="851362"/>
                  </a:cubicBezTo>
                  <a:lnTo>
                    <a:pt x="0" y="24530"/>
                  </a:lnTo>
                  <a:cubicBezTo>
                    <a:pt x="0" y="18024"/>
                    <a:pt x="2584" y="11785"/>
                    <a:pt x="7185" y="7185"/>
                  </a:cubicBezTo>
                  <a:cubicBezTo>
                    <a:pt x="11785" y="2584"/>
                    <a:pt x="18024" y="0"/>
                    <a:pt x="24530" y="0"/>
                  </a:cubicBezTo>
                  <a:close/>
                </a:path>
              </a:pathLst>
            </a:custGeom>
            <a:solidFill>
              <a:srgbClr val="2A0DA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1650230" cy="904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AutoShape 26"/>
          <p:cNvSpPr/>
          <p:nvPr/>
        </p:nvSpPr>
        <p:spPr>
          <a:xfrm>
            <a:off x="310661" y="1684898"/>
            <a:ext cx="4499464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AutoShape 27"/>
          <p:cNvSpPr/>
          <p:nvPr/>
        </p:nvSpPr>
        <p:spPr>
          <a:xfrm>
            <a:off x="5227223" y="1703948"/>
            <a:ext cx="4499464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AutoShape 28"/>
          <p:cNvSpPr/>
          <p:nvPr/>
        </p:nvSpPr>
        <p:spPr>
          <a:xfrm>
            <a:off x="345191" y="4466515"/>
            <a:ext cx="4499464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" name="AutoShape 29"/>
          <p:cNvSpPr/>
          <p:nvPr/>
        </p:nvSpPr>
        <p:spPr>
          <a:xfrm>
            <a:off x="5208271" y="4478712"/>
            <a:ext cx="4499464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0" name="Group 30"/>
          <p:cNvGrpSpPr/>
          <p:nvPr/>
        </p:nvGrpSpPr>
        <p:grpSpPr>
          <a:xfrm>
            <a:off x="7727240" y="7138035"/>
            <a:ext cx="2147247" cy="321693"/>
            <a:chOff x="0" y="0"/>
            <a:chExt cx="2862995" cy="428924"/>
          </a:xfrm>
        </p:grpSpPr>
        <p:sp>
          <p:nvSpPr>
            <p:cNvPr id="31" name="TextBox 31"/>
            <p:cNvSpPr txBox="1"/>
            <p:nvPr/>
          </p:nvSpPr>
          <p:spPr>
            <a:xfrm>
              <a:off x="428924" y="23952"/>
              <a:ext cx="2434071" cy="342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Radnika Next"/>
                  <a:ea typeface="Radnika Next"/>
                  <a:cs typeface="Radnika Next"/>
                  <a:sym typeface="Radnika Next"/>
                </a:rPr>
                <a:t>Same Connectivity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0" y="0"/>
              <a:ext cx="428924" cy="428924"/>
            </a:xfrm>
            <a:custGeom>
              <a:avLst/>
              <a:gdLst/>
              <a:ahLst/>
              <a:cxnLst/>
              <a:rect l="l" t="t" r="r" b="b"/>
              <a:pathLst>
                <a:path w="428924" h="428924">
                  <a:moveTo>
                    <a:pt x="0" y="0"/>
                  </a:moveTo>
                  <a:lnTo>
                    <a:pt x="428924" y="0"/>
                  </a:lnTo>
                  <a:lnTo>
                    <a:pt x="428924" y="428924"/>
                  </a:lnTo>
                  <a:lnTo>
                    <a:pt x="0" y="428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33" name="Group 33"/>
          <p:cNvGrpSpPr/>
          <p:nvPr/>
        </p:nvGrpSpPr>
        <p:grpSpPr>
          <a:xfrm>
            <a:off x="1000629" y="154558"/>
            <a:ext cx="7873990" cy="559269"/>
            <a:chOff x="0" y="0"/>
            <a:chExt cx="2744746" cy="19495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744746" cy="194952"/>
            </a:xfrm>
            <a:custGeom>
              <a:avLst/>
              <a:gdLst/>
              <a:ahLst/>
              <a:cxnLst/>
              <a:rect l="l" t="t" r="r" b="b"/>
              <a:pathLst>
                <a:path w="2744746" h="194952">
                  <a:moveTo>
                    <a:pt x="29497" y="0"/>
                  </a:moveTo>
                  <a:lnTo>
                    <a:pt x="2715249" y="0"/>
                  </a:lnTo>
                  <a:cubicBezTo>
                    <a:pt x="2731540" y="0"/>
                    <a:pt x="2744746" y="13206"/>
                    <a:pt x="2744746" y="29497"/>
                  </a:cubicBezTo>
                  <a:lnTo>
                    <a:pt x="2744746" y="165455"/>
                  </a:lnTo>
                  <a:cubicBezTo>
                    <a:pt x="2744746" y="173278"/>
                    <a:pt x="2741638" y="180781"/>
                    <a:pt x="2736106" y="186313"/>
                  </a:cubicBezTo>
                  <a:cubicBezTo>
                    <a:pt x="2730575" y="191844"/>
                    <a:pt x="2723072" y="194952"/>
                    <a:pt x="2715249" y="194952"/>
                  </a:cubicBezTo>
                  <a:lnTo>
                    <a:pt x="29497" y="194952"/>
                  </a:lnTo>
                  <a:cubicBezTo>
                    <a:pt x="13206" y="194952"/>
                    <a:pt x="0" y="181746"/>
                    <a:pt x="0" y="165455"/>
                  </a:cubicBezTo>
                  <a:lnTo>
                    <a:pt x="0" y="29497"/>
                  </a:lnTo>
                  <a:cubicBezTo>
                    <a:pt x="0" y="13206"/>
                    <a:pt x="13206" y="0"/>
                    <a:pt x="29497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0" y="-28575"/>
              <a:ext cx="2744746" cy="2235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016318" y="1741423"/>
            <a:ext cx="2719738" cy="1831380"/>
            <a:chOff x="0" y="0"/>
            <a:chExt cx="3626318" cy="244184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626318" cy="2441840"/>
            </a:xfrm>
            <a:custGeom>
              <a:avLst/>
              <a:gdLst/>
              <a:ahLst/>
              <a:cxnLst/>
              <a:rect l="l" t="t" r="r" b="b"/>
              <a:pathLst>
                <a:path w="3626318" h="2441840">
                  <a:moveTo>
                    <a:pt x="0" y="0"/>
                  </a:moveTo>
                  <a:lnTo>
                    <a:pt x="3626318" y="0"/>
                  </a:lnTo>
                  <a:lnTo>
                    <a:pt x="3626318" y="2441840"/>
                  </a:lnTo>
                  <a:lnTo>
                    <a:pt x="0" y="2441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4063" t="-43596" r="-13160" b="-45340"/>
              </a:stretch>
            </a:blipFill>
          </p:spPr>
        </p:sp>
        <p:sp>
          <p:nvSpPr>
            <p:cNvPr id="38" name="Freeform 38"/>
            <p:cNvSpPr/>
            <p:nvPr/>
          </p:nvSpPr>
          <p:spPr>
            <a:xfrm>
              <a:off x="1871600" y="40817"/>
              <a:ext cx="616654" cy="444159"/>
            </a:xfrm>
            <a:custGeom>
              <a:avLst/>
              <a:gdLst/>
              <a:ahLst/>
              <a:cxnLst/>
              <a:rect l="l" t="t" r="r" b="b"/>
              <a:pathLst>
                <a:path w="616654" h="444159">
                  <a:moveTo>
                    <a:pt x="0" y="0"/>
                  </a:moveTo>
                  <a:lnTo>
                    <a:pt x="616653" y="0"/>
                  </a:lnTo>
                  <a:lnTo>
                    <a:pt x="616653" y="444158"/>
                  </a:lnTo>
                  <a:lnTo>
                    <a:pt x="0" y="4441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64131" t="-215162" r="-237839" b="-659428"/>
              </a:stretch>
            </a:blipFill>
          </p:spPr>
        </p:sp>
        <p:sp>
          <p:nvSpPr>
            <p:cNvPr id="39" name="Freeform 39"/>
            <p:cNvSpPr/>
            <p:nvPr/>
          </p:nvSpPr>
          <p:spPr>
            <a:xfrm>
              <a:off x="2930920" y="895840"/>
              <a:ext cx="564638" cy="539373"/>
            </a:xfrm>
            <a:custGeom>
              <a:avLst/>
              <a:gdLst/>
              <a:ahLst/>
              <a:cxnLst/>
              <a:rect l="l" t="t" r="r" b="b"/>
              <a:pathLst>
                <a:path w="564638" h="539373">
                  <a:moveTo>
                    <a:pt x="0" y="0"/>
                  </a:moveTo>
                  <a:lnTo>
                    <a:pt x="564637" y="0"/>
                  </a:lnTo>
                  <a:lnTo>
                    <a:pt x="564637" y="539373"/>
                  </a:lnTo>
                  <a:lnTo>
                    <a:pt x="0" y="5393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583135" t="-335141" r="-78820" b="-362505"/>
              </a:stretch>
            </a:blipFill>
          </p:spPr>
        </p:sp>
      </p:grpSp>
      <p:sp>
        <p:nvSpPr>
          <p:cNvPr id="40" name="TextBox 40"/>
          <p:cNvSpPr txBox="1"/>
          <p:nvPr/>
        </p:nvSpPr>
        <p:spPr>
          <a:xfrm>
            <a:off x="1188543" y="129533"/>
            <a:ext cx="7498161" cy="898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CARD 04 </a:t>
            </a:r>
            <a:r>
              <a:rPr lang="en-US" sz="3000" b="1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- ACETIC ACID (ethanoic acid)</a:t>
            </a:r>
          </a:p>
          <a:p>
            <a:pPr algn="ctr">
              <a:lnSpc>
                <a:spcPts val="2800"/>
              </a:lnSpc>
            </a:pPr>
            <a:r>
              <a:rPr lang="en-US" sz="2000" u="sng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Molecular Formula:</a:t>
            </a:r>
            <a:r>
              <a:rPr lang="en-US" sz="2000" b="1" u="sng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C2H402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164473" y="6628443"/>
            <a:ext cx="3729453" cy="382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b="1">
                <a:solidFill>
                  <a:srgbClr val="FFFFFF"/>
                </a:solidFill>
                <a:latin typeface="Radnika Next Bold"/>
                <a:ea typeface="Radnika Next Bold"/>
                <a:cs typeface="Radnika Next Bold"/>
                <a:sym typeface="Radnika Next Bold"/>
              </a:rPr>
              <a:t>- </a:t>
            </a:r>
            <a:r>
              <a:rPr lang="en-US" sz="2200" b="1" u="sng">
                <a:solidFill>
                  <a:srgbClr val="FFFFFF"/>
                </a:solidFill>
                <a:latin typeface="Radnika Next Bold"/>
                <a:ea typeface="Radnika Next Bold"/>
                <a:cs typeface="Radnika Next Bold"/>
                <a:sym typeface="Radnika Next Bold"/>
              </a:rPr>
              <a:t>VERIFICATION STRIP</a:t>
            </a:r>
            <a:r>
              <a:rPr lang="en-US" sz="2200" b="1">
                <a:solidFill>
                  <a:srgbClr val="FFFFFF"/>
                </a:solidFill>
                <a:latin typeface="Radnika Next Bold"/>
                <a:ea typeface="Radnika Next Bold"/>
                <a:cs typeface="Radnika Next Bold"/>
                <a:sym typeface="Radnika Next Bold"/>
              </a:rPr>
              <a:t> -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215251" y="1176611"/>
            <a:ext cx="2710647" cy="422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Knockout Welterweight Bold"/>
                <a:ea typeface="Knockout Welterweight Bold"/>
                <a:cs typeface="Knockout Welterweight Bold"/>
                <a:sym typeface="Knockout Welterweight Bold"/>
              </a:rPr>
              <a:t>MOLECULAR FORMULA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337665" y="1167086"/>
            <a:ext cx="2300321" cy="431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Knockout Welterweight Bold"/>
                <a:ea typeface="Knockout Welterweight Bold"/>
                <a:cs typeface="Knockout Welterweight Bold"/>
                <a:sym typeface="Knockout Welterweight Bold"/>
              </a:rPr>
              <a:t>LEWIS STRUCTURE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179949" y="3959967"/>
            <a:ext cx="2556107" cy="422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Knockout Welterweight Bold"/>
                <a:ea typeface="Knockout Welterweight Bold"/>
                <a:cs typeface="Knockout Welterweight Bold"/>
                <a:sym typeface="Knockout Welterweight Bold"/>
              </a:rPr>
              <a:t>BOND-LINE FORMULA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21851" y="3959967"/>
            <a:ext cx="4297447" cy="422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Knockout Welterweight Bold"/>
                <a:ea typeface="Knockout Welterweight Bold"/>
                <a:cs typeface="Knockout Welterweight Bold"/>
                <a:sym typeface="Knockout Welterweight Bold"/>
              </a:rPr>
              <a:t>CONDENSED STRUCTURAL FORMULA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312687" y="1977704"/>
            <a:ext cx="4515773" cy="1038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dirty="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C2H402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21851" y="4861996"/>
            <a:ext cx="4311976" cy="7790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4500" dirty="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CH3COOH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6462723" y="4366090"/>
            <a:ext cx="2374772" cy="2077926"/>
            <a:chOff x="0" y="0"/>
            <a:chExt cx="3166363" cy="2770568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3166363" cy="2770568"/>
            </a:xfrm>
            <a:custGeom>
              <a:avLst/>
              <a:gdLst/>
              <a:ahLst/>
              <a:cxnLst/>
              <a:rect l="l" t="t" r="r" b="b"/>
              <a:pathLst>
                <a:path w="3166363" h="2770568">
                  <a:moveTo>
                    <a:pt x="0" y="0"/>
                  </a:moveTo>
                  <a:lnTo>
                    <a:pt x="3166363" y="0"/>
                  </a:lnTo>
                  <a:lnTo>
                    <a:pt x="3166363" y="2770568"/>
                  </a:lnTo>
                  <a:lnTo>
                    <a:pt x="0" y="27705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50" name="Freeform 50"/>
            <p:cNvSpPr/>
            <p:nvPr/>
          </p:nvSpPr>
          <p:spPr>
            <a:xfrm>
              <a:off x="2260408" y="1656643"/>
              <a:ext cx="797251" cy="1029816"/>
            </a:xfrm>
            <a:custGeom>
              <a:avLst/>
              <a:gdLst/>
              <a:ahLst/>
              <a:cxnLst/>
              <a:rect l="l" t="t" r="r" b="b"/>
              <a:pathLst>
                <a:path w="797251" h="1029816">
                  <a:moveTo>
                    <a:pt x="0" y="0"/>
                  </a:moveTo>
                  <a:lnTo>
                    <a:pt x="797251" y="0"/>
                  </a:lnTo>
                  <a:lnTo>
                    <a:pt x="797251" y="1029816"/>
                  </a:lnTo>
                  <a:lnTo>
                    <a:pt x="0" y="10298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274288" t="-153542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51" name="Freeform 51"/>
            <p:cNvSpPr/>
            <p:nvPr/>
          </p:nvSpPr>
          <p:spPr>
            <a:xfrm>
              <a:off x="599353" y="93841"/>
              <a:ext cx="767706" cy="554428"/>
            </a:xfrm>
            <a:custGeom>
              <a:avLst/>
              <a:gdLst/>
              <a:ahLst/>
              <a:cxnLst/>
              <a:rect l="l" t="t" r="r" b="b"/>
              <a:pathLst>
                <a:path w="767706" h="554428">
                  <a:moveTo>
                    <a:pt x="0" y="0"/>
                  </a:moveTo>
                  <a:lnTo>
                    <a:pt x="767705" y="0"/>
                  </a:lnTo>
                  <a:lnTo>
                    <a:pt x="767705" y="554428"/>
                  </a:lnTo>
                  <a:lnTo>
                    <a:pt x="0" y="5544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65641" r="-222753" b="-370577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3526" y="1104352"/>
            <a:ext cx="4734098" cy="2512715"/>
            <a:chOff x="0" y="0"/>
            <a:chExt cx="1650230" cy="8758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50230" cy="875892"/>
            </a:xfrm>
            <a:custGeom>
              <a:avLst/>
              <a:gdLst/>
              <a:ahLst/>
              <a:cxnLst/>
              <a:rect l="l" t="t" r="r" b="b"/>
              <a:pathLst>
                <a:path w="1650230" h="875892">
                  <a:moveTo>
                    <a:pt x="24530" y="0"/>
                  </a:moveTo>
                  <a:lnTo>
                    <a:pt x="1625700" y="0"/>
                  </a:lnTo>
                  <a:cubicBezTo>
                    <a:pt x="1632206" y="0"/>
                    <a:pt x="1638445" y="2584"/>
                    <a:pt x="1643045" y="7185"/>
                  </a:cubicBezTo>
                  <a:cubicBezTo>
                    <a:pt x="1647646" y="11785"/>
                    <a:pt x="1650230" y="18024"/>
                    <a:pt x="1650230" y="24530"/>
                  </a:cubicBezTo>
                  <a:lnTo>
                    <a:pt x="1650230" y="851362"/>
                  </a:lnTo>
                  <a:cubicBezTo>
                    <a:pt x="1650230" y="857868"/>
                    <a:pt x="1647646" y="864107"/>
                    <a:pt x="1643045" y="868707"/>
                  </a:cubicBezTo>
                  <a:cubicBezTo>
                    <a:pt x="1638445" y="873308"/>
                    <a:pt x="1632206" y="875892"/>
                    <a:pt x="1625700" y="875892"/>
                  </a:cubicBezTo>
                  <a:lnTo>
                    <a:pt x="24530" y="875892"/>
                  </a:lnTo>
                  <a:cubicBezTo>
                    <a:pt x="18024" y="875892"/>
                    <a:pt x="11785" y="873308"/>
                    <a:pt x="7185" y="868707"/>
                  </a:cubicBezTo>
                  <a:cubicBezTo>
                    <a:pt x="2584" y="864107"/>
                    <a:pt x="0" y="857868"/>
                    <a:pt x="0" y="851362"/>
                  </a:cubicBezTo>
                  <a:lnTo>
                    <a:pt x="0" y="24530"/>
                  </a:lnTo>
                  <a:cubicBezTo>
                    <a:pt x="0" y="18024"/>
                    <a:pt x="2584" y="11785"/>
                    <a:pt x="7185" y="7185"/>
                  </a:cubicBezTo>
                  <a:cubicBezTo>
                    <a:pt x="11785" y="2584"/>
                    <a:pt x="18024" y="0"/>
                    <a:pt x="24530" y="0"/>
                  </a:cubicBezTo>
                  <a:close/>
                </a:path>
              </a:pathLst>
            </a:custGeom>
            <a:solidFill>
              <a:srgbClr val="2A0DA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650230" cy="904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0086" y="6533193"/>
            <a:ext cx="9818228" cy="1124459"/>
            <a:chOff x="0" y="0"/>
            <a:chExt cx="3422476" cy="3919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422476" cy="391968"/>
            </a:xfrm>
            <a:custGeom>
              <a:avLst/>
              <a:gdLst/>
              <a:ahLst/>
              <a:cxnLst/>
              <a:rect l="l" t="t" r="r" b="b"/>
              <a:pathLst>
                <a:path w="3422476" h="391968">
                  <a:moveTo>
                    <a:pt x="0" y="0"/>
                  </a:moveTo>
                  <a:lnTo>
                    <a:pt x="3422476" y="0"/>
                  </a:lnTo>
                  <a:lnTo>
                    <a:pt x="3422476" y="391968"/>
                  </a:lnTo>
                  <a:lnTo>
                    <a:pt x="0" y="391968"/>
                  </a:lnTo>
                  <a:close/>
                </a:path>
              </a:pathLst>
            </a:custGeom>
            <a:solidFill>
              <a:srgbClr val="150068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3422476" cy="4205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03526" y="7137394"/>
            <a:ext cx="2304781" cy="321693"/>
            <a:chOff x="0" y="0"/>
            <a:chExt cx="3073041" cy="42892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28924" cy="428924"/>
            </a:xfrm>
            <a:custGeom>
              <a:avLst/>
              <a:gdLst/>
              <a:ahLst/>
              <a:cxnLst/>
              <a:rect l="l" t="t" r="r" b="b"/>
              <a:pathLst>
                <a:path w="428924" h="428924">
                  <a:moveTo>
                    <a:pt x="0" y="0"/>
                  </a:moveTo>
                  <a:lnTo>
                    <a:pt x="428924" y="0"/>
                  </a:lnTo>
                  <a:lnTo>
                    <a:pt x="428924" y="428924"/>
                  </a:lnTo>
                  <a:lnTo>
                    <a:pt x="0" y="428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428924" y="23952"/>
              <a:ext cx="2644117" cy="342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Radnika Next"/>
                  <a:ea typeface="Radnika Next"/>
                  <a:cs typeface="Radnika Next"/>
                  <a:sym typeface="Radnika Next"/>
                </a:rPr>
                <a:t>Atom Count Verified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768364" y="7138035"/>
            <a:ext cx="2000779" cy="321693"/>
            <a:chOff x="0" y="0"/>
            <a:chExt cx="2667705" cy="428924"/>
          </a:xfrm>
        </p:grpSpPr>
        <p:sp>
          <p:nvSpPr>
            <p:cNvPr id="12" name="TextBox 12"/>
            <p:cNvSpPr txBox="1"/>
            <p:nvPr/>
          </p:nvSpPr>
          <p:spPr>
            <a:xfrm>
              <a:off x="457418" y="23952"/>
              <a:ext cx="2210287" cy="342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Radnika Next"/>
                  <a:ea typeface="Radnika Next"/>
                  <a:cs typeface="Radnika Next"/>
                  <a:sym typeface="Radnika Next"/>
                </a:rPr>
                <a:t>Valence Checked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428924" cy="428924"/>
            </a:xfrm>
            <a:custGeom>
              <a:avLst/>
              <a:gdLst/>
              <a:ahLst/>
              <a:cxnLst/>
              <a:rect l="l" t="t" r="r" b="b"/>
              <a:pathLst>
                <a:path w="428924" h="428924">
                  <a:moveTo>
                    <a:pt x="0" y="0"/>
                  </a:moveTo>
                  <a:lnTo>
                    <a:pt x="428924" y="0"/>
                  </a:lnTo>
                  <a:lnTo>
                    <a:pt x="428924" y="428924"/>
                  </a:lnTo>
                  <a:lnTo>
                    <a:pt x="0" y="428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5090954" y="7138035"/>
            <a:ext cx="2379111" cy="321693"/>
            <a:chOff x="0" y="0"/>
            <a:chExt cx="3172148" cy="428924"/>
          </a:xfrm>
        </p:grpSpPr>
        <p:sp>
          <p:nvSpPr>
            <p:cNvPr id="15" name="TextBox 15"/>
            <p:cNvSpPr txBox="1"/>
            <p:nvPr/>
          </p:nvSpPr>
          <p:spPr>
            <a:xfrm>
              <a:off x="428924" y="23952"/>
              <a:ext cx="2743223" cy="342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Radnika Next"/>
                  <a:ea typeface="Radnika Next"/>
                  <a:cs typeface="Radnika Next"/>
                  <a:sym typeface="Radnika Next"/>
                </a:rPr>
                <a:t>Bond Order Checked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428924" cy="428924"/>
            </a:xfrm>
            <a:custGeom>
              <a:avLst/>
              <a:gdLst/>
              <a:ahLst/>
              <a:cxnLst/>
              <a:rect l="l" t="t" r="r" b="b"/>
              <a:pathLst>
                <a:path w="428924" h="428924">
                  <a:moveTo>
                    <a:pt x="0" y="0"/>
                  </a:moveTo>
                  <a:lnTo>
                    <a:pt x="428924" y="0"/>
                  </a:lnTo>
                  <a:lnTo>
                    <a:pt x="428924" y="428924"/>
                  </a:lnTo>
                  <a:lnTo>
                    <a:pt x="0" y="428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203526" y="3849747"/>
            <a:ext cx="4734098" cy="2512715"/>
            <a:chOff x="0" y="0"/>
            <a:chExt cx="1650230" cy="87589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50230" cy="875892"/>
            </a:xfrm>
            <a:custGeom>
              <a:avLst/>
              <a:gdLst/>
              <a:ahLst/>
              <a:cxnLst/>
              <a:rect l="l" t="t" r="r" b="b"/>
              <a:pathLst>
                <a:path w="1650230" h="875892">
                  <a:moveTo>
                    <a:pt x="24530" y="0"/>
                  </a:moveTo>
                  <a:lnTo>
                    <a:pt x="1625700" y="0"/>
                  </a:lnTo>
                  <a:cubicBezTo>
                    <a:pt x="1632206" y="0"/>
                    <a:pt x="1638445" y="2584"/>
                    <a:pt x="1643045" y="7185"/>
                  </a:cubicBezTo>
                  <a:cubicBezTo>
                    <a:pt x="1647646" y="11785"/>
                    <a:pt x="1650230" y="18024"/>
                    <a:pt x="1650230" y="24530"/>
                  </a:cubicBezTo>
                  <a:lnTo>
                    <a:pt x="1650230" y="851362"/>
                  </a:lnTo>
                  <a:cubicBezTo>
                    <a:pt x="1650230" y="857868"/>
                    <a:pt x="1647646" y="864107"/>
                    <a:pt x="1643045" y="868707"/>
                  </a:cubicBezTo>
                  <a:cubicBezTo>
                    <a:pt x="1638445" y="873308"/>
                    <a:pt x="1632206" y="875892"/>
                    <a:pt x="1625700" y="875892"/>
                  </a:cubicBezTo>
                  <a:lnTo>
                    <a:pt x="24530" y="875892"/>
                  </a:lnTo>
                  <a:cubicBezTo>
                    <a:pt x="18024" y="875892"/>
                    <a:pt x="11785" y="873308"/>
                    <a:pt x="7185" y="868707"/>
                  </a:cubicBezTo>
                  <a:cubicBezTo>
                    <a:pt x="2584" y="864107"/>
                    <a:pt x="0" y="857868"/>
                    <a:pt x="0" y="851362"/>
                  </a:cubicBezTo>
                  <a:lnTo>
                    <a:pt x="0" y="24530"/>
                  </a:lnTo>
                  <a:cubicBezTo>
                    <a:pt x="0" y="18024"/>
                    <a:pt x="2584" y="11785"/>
                    <a:pt x="7185" y="7185"/>
                  </a:cubicBezTo>
                  <a:cubicBezTo>
                    <a:pt x="11785" y="2584"/>
                    <a:pt x="18024" y="0"/>
                    <a:pt x="24530" y="0"/>
                  </a:cubicBezTo>
                  <a:close/>
                </a:path>
              </a:pathLst>
            </a:custGeom>
            <a:solidFill>
              <a:srgbClr val="2A0DA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1650230" cy="904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120777" y="1104352"/>
            <a:ext cx="4734098" cy="2512715"/>
            <a:chOff x="0" y="0"/>
            <a:chExt cx="1650230" cy="87589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650230" cy="875892"/>
            </a:xfrm>
            <a:custGeom>
              <a:avLst/>
              <a:gdLst/>
              <a:ahLst/>
              <a:cxnLst/>
              <a:rect l="l" t="t" r="r" b="b"/>
              <a:pathLst>
                <a:path w="1650230" h="875892">
                  <a:moveTo>
                    <a:pt x="24530" y="0"/>
                  </a:moveTo>
                  <a:lnTo>
                    <a:pt x="1625700" y="0"/>
                  </a:lnTo>
                  <a:cubicBezTo>
                    <a:pt x="1632206" y="0"/>
                    <a:pt x="1638445" y="2584"/>
                    <a:pt x="1643045" y="7185"/>
                  </a:cubicBezTo>
                  <a:cubicBezTo>
                    <a:pt x="1647646" y="11785"/>
                    <a:pt x="1650230" y="18024"/>
                    <a:pt x="1650230" y="24530"/>
                  </a:cubicBezTo>
                  <a:lnTo>
                    <a:pt x="1650230" y="851362"/>
                  </a:lnTo>
                  <a:cubicBezTo>
                    <a:pt x="1650230" y="857868"/>
                    <a:pt x="1647646" y="864107"/>
                    <a:pt x="1643045" y="868707"/>
                  </a:cubicBezTo>
                  <a:cubicBezTo>
                    <a:pt x="1638445" y="873308"/>
                    <a:pt x="1632206" y="875892"/>
                    <a:pt x="1625700" y="875892"/>
                  </a:cubicBezTo>
                  <a:lnTo>
                    <a:pt x="24530" y="875892"/>
                  </a:lnTo>
                  <a:cubicBezTo>
                    <a:pt x="18024" y="875892"/>
                    <a:pt x="11785" y="873308"/>
                    <a:pt x="7185" y="868707"/>
                  </a:cubicBezTo>
                  <a:cubicBezTo>
                    <a:pt x="2584" y="864107"/>
                    <a:pt x="0" y="857868"/>
                    <a:pt x="0" y="851362"/>
                  </a:cubicBezTo>
                  <a:lnTo>
                    <a:pt x="0" y="24530"/>
                  </a:lnTo>
                  <a:cubicBezTo>
                    <a:pt x="0" y="18024"/>
                    <a:pt x="2584" y="11785"/>
                    <a:pt x="7185" y="7185"/>
                  </a:cubicBezTo>
                  <a:cubicBezTo>
                    <a:pt x="11785" y="2584"/>
                    <a:pt x="18024" y="0"/>
                    <a:pt x="24530" y="0"/>
                  </a:cubicBezTo>
                  <a:close/>
                </a:path>
              </a:pathLst>
            </a:custGeom>
            <a:solidFill>
              <a:srgbClr val="2A0DA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1650230" cy="904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090954" y="3868078"/>
            <a:ext cx="4734098" cy="2512715"/>
            <a:chOff x="0" y="0"/>
            <a:chExt cx="1650230" cy="87589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650230" cy="875892"/>
            </a:xfrm>
            <a:custGeom>
              <a:avLst/>
              <a:gdLst/>
              <a:ahLst/>
              <a:cxnLst/>
              <a:rect l="l" t="t" r="r" b="b"/>
              <a:pathLst>
                <a:path w="1650230" h="875892">
                  <a:moveTo>
                    <a:pt x="24530" y="0"/>
                  </a:moveTo>
                  <a:lnTo>
                    <a:pt x="1625700" y="0"/>
                  </a:lnTo>
                  <a:cubicBezTo>
                    <a:pt x="1632206" y="0"/>
                    <a:pt x="1638445" y="2584"/>
                    <a:pt x="1643045" y="7185"/>
                  </a:cubicBezTo>
                  <a:cubicBezTo>
                    <a:pt x="1647646" y="11785"/>
                    <a:pt x="1650230" y="18024"/>
                    <a:pt x="1650230" y="24530"/>
                  </a:cubicBezTo>
                  <a:lnTo>
                    <a:pt x="1650230" y="851362"/>
                  </a:lnTo>
                  <a:cubicBezTo>
                    <a:pt x="1650230" y="857868"/>
                    <a:pt x="1647646" y="864107"/>
                    <a:pt x="1643045" y="868707"/>
                  </a:cubicBezTo>
                  <a:cubicBezTo>
                    <a:pt x="1638445" y="873308"/>
                    <a:pt x="1632206" y="875892"/>
                    <a:pt x="1625700" y="875892"/>
                  </a:cubicBezTo>
                  <a:lnTo>
                    <a:pt x="24530" y="875892"/>
                  </a:lnTo>
                  <a:cubicBezTo>
                    <a:pt x="18024" y="875892"/>
                    <a:pt x="11785" y="873308"/>
                    <a:pt x="7185" y="868707"/>
                  </a:cubicBezTo>
                  <a:cubicBezTo>
                    <a:pt x="2584" y="864107"/>
                    <a:pt x="0" y="857868"/>
                    <a:pt x="0" y="851362"/>
                  </a:cubicBezTo>
                  <a:lnTo>
                    <a:pt x="0" y="24530"/>
                  </a:lnTo>
                  <a:cubicBezTo>
                    <a:pt x="0" y="18024"/>
                    <a:pt x="2584" y="11785"/>
                    <a:pt x="7185" y="7185"/>
                  </a:cubicBezTo>
                  <a:cubicBezTo>
                    <a:pt x="11785" y="2584"/>
                    <a:pt x="18024" y="0"/>
                    <a:pt x="24530" y="0"/>
                  </a:cubicBezTo>
                  <a:close/>
                </a:path>
              </a:pathLst>
            </a:custGeom>
            <a:solidFill>
              <a:srgbClr val="2A0DA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1650230" cy="904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AutoShape 26"/>
          <p:cNvSpPr/>
          <p:nvPr/>
        </p:nvSpPr>
        <p:spPr>
          <a:xfrm>
            <a:off x="310661" y="1684898"/>
            <a:ext cx="4499464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AutoShape 27"/>
          <p:cNvSpPr/>
          <p:nvPr/>
        </p:nvSpPr>
        <p:spPr>
          <a:xfrm>
            <a:off x="5227223" y="1703948"/>
            <a:ext cx="4499464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AutoShape 28"/>
          <p:cNvSpPr/>
          <p:nvPr/>
        </p:nvSpPr>
        <p:spPr>
          <a:xfrm>
            <a:off x="345191" y="4466515"/>
            <a:ext cx="4499464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" name="AutoShape 29"/>
          <p:cNvSpPr/>
          <p:nvPr/>
        </p:nvSpPr>
        <p:spPr>
          <a:xfrm>
            <a:off x="5208271" y="4478712"/>
            <a:ext cx="4499464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0" name="Group 30"/>
          <p:cNvGrpSpPr/>
          <p:nvPr/>
        </p:nvGrpSpPr>
        <p:grpSpPr>
          <a:xfrm>
            <a:off x="7727240" y="7138035"/>
            <a:ext cx="2147247" cy="321693"/>
            <a:chOff x="0" y="0"/>
            <a:chExt cx="2862995" cy="428924"/>
          </a:xfrm>
        </p:grpSpPr>
        <p:sp>
          <p:nvSpPr>
            <p:cNvPr id="31" name="TextBox 31"/>
            <p:cNvSpPr txBox="1"/>
            <p:nvPr/>
          </p:nvSpPr>
          <p:spPr>
            <a:xfrm>
              <a:off x="428924" y="23952"/>
              <a:ext cx="2434071" cy="342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Radnika Next"/>
                  <a:ea typeface="Radnika Next"/>
                  <a:cs typeface="Radnika Next"/>
                  <a:sym typeface="Radnika Next"/>
                </a:rPr>
                <a:t>Same Connectivity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0" y="0"/>
              <a:ext cx="428924" cy="428924"/>
            </a:xfrm>
            <a:custGeom>
              <a:avLst/>
              <a:gdLst/>
              <a:ahLst/>
              <a:cxnLst/>
              <a:rect l="l" t="t" r="r" b="b"/>
              <a:pathLst>
                <a:path w="428924" h="428924">
                  <a:moveTo>
                    <a:pt x="0" y="0"/>
                  </a:moveTo>
                  <a:lnTo>
                    <a:pt x="428924" y="0"/>
                  </a:lnTo>
                  <a:lnTo>
                    <a:pt x="428924" y="428924"/>
                  </a:lnTo>
                  <a:lnTo>
                    <a:pt x="0" y="428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33" name="Group 33"/>
          <p:cNvGrpSpPr/>
          <p:nvPr/>
        </p:nvGrpSpPr>
        <p:grpSpPr>
          <a:xfrm>
            <a:off x="631946" y="154558"/>
            <a:ext cx="8794507" cy="559269"/>
            <a:chOff x="0" y="0"/>
            <a:chExt cx="3065624" cy="19495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065624" cy="194952"/>
            </a:xfrm>
            <a:custGeom>
              <a:avLst/>
              <a:gdLst/>
              <a:ahLst/>
              <a:cxnLst/>
              <a:rect l="l" t="t" r="r" b="b"/>
              <a:pathLst>
                <a:path w="3065624" h="194952">
                  <a:moveTo>
                    <a:pt x="26409" y="0"/>
                  </a:moveTo>
                  <a:lnTo>
                    <a:pt x="3039214" y="0"/>
                  </a:lnTo>
                  <a:cubicBezTo>
                    <a:pt x="3053800" y="0"/>
                    <a:pt x="3065624" y="11824"/>
                    <a:pt x="3065624" y="26409"/>
                  </a:cubicBezTo>
                  <a:lnTo>
                    <a:pt x="3065624" y="168543"/>
                  </a:lnTo>
                  <a:cubicBezTo>
                    <a:pt x="3065624" y="175547"/>
                    <a:pt x="3062841" y="182264"/>
                    <a:pt x="3057888" y="187217"/>
                  </a:cubicBezTo>
                  <a:cubicBezTo>
                    <a:pt x="3052936" y="192170"/>
                    <a:pt x="3046218" y="194952"/>
                    <a:pt x="3039214" y="194952"/>
                  </a:cubicBezTo>
                  <a:lnTo>
                    <a:pt x="26409" y="194952"/>
                  </a:lnTo>
                  <a:cubicBezTo>
                    <a:pt x="19405" y="194952"/>
                    <a:pt x="12688" y="192170"/>
                    <a:pt x="7735" y="187217"/>
                  </a:cubicBezTo>
                  <a:cubicBezTo>
                    <a:pt x="2782" y="182264"/>
                    <a:pt x="0" y="175547"/>
                    <a:pt x="0" y="168543"/>
                  </a:cubicBezTo>
                  <a:lnTo>
                    <a:pt x="0" y="26409"/>
                  </a:lnTo>
                  <a:cubicBezTo>
                    <a:pt x="0" y="19405"/>
                    <a:pt x="2782" y="12688"/>
                    <a:pt x="7735" y="7735"/>
                  </a:cubicBezTo>
                  <a:cubicBezTo>
                    <a:pt x="12688" y="2782"/>
                    <a:pt x="19405" y="0"/>
                    <a:pt x="26409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0" y="-28575"/>
              <a:ext cx="3065624" cy="2235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133633" y="1742457"/>
            <a:ext cx="4708385" cy="1860024"/>
            <a:chOff x="0" y="0"/>
            <a:chExt cx="6277847" cy="248003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6277847" cy="2480032"/>
            </a:xfrm>
            <a:custGeom>
              <a:avLst/>
              <a:gdLst/>
              <a:ahLst/>
              <a:cxnLst/>
              <a:rect l="l" t="t" r="r" b="b"/>
              <a:pathLst>
                <a:path w="6277847" h="2480032">
                  <a:moveTo>
                    <a:pt x="0" y="0"/>
                  </a:moveTo>
                  <a:lnTo>
                    <a:pt x="6277847" y="0"/>
                  </a:lnTo>
                  <a:lnTo>
                    <a:pt x="6277847" y="2480032"/>
                  </a:lnTo>
                  <a:lnTo>
                    <a:pt x="0" y="2480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888" t="-92286" r="-6400" b="-91955"/>
              </a:stretch>
            </a:blipFill>
          </p:spPr>
        </p:sp>
        <p:sp>
          <p:nvSpPr>
            <p:cNvPr id="38" name="Freeform 38"/>
            <p:cNvSpPr/>
            <p:nvPr/>
          </p:nvSpPr>
          <p:spPr>
            <a:xfrm>
              <a:off x="1872211" y="88354"/>
              <a:ext cx="749227" cy="446232"/>
            </a:xfrm>
            <a:custGeom>
              <a:avLst/>
              <a:gdLst/>
              <a:ahLst/>
              <a:cxnLst/>
              <a:rect l="l" t="t" r="r" b="b"/>
              <a:pathLst>
                <a:path w="749227" h="446232">
                  <a:moveTo>
                    <a:pt x="0" y="0"/>
                  </a:moveTo>
                  <a:lnTo>
                    <a:pt x="749227" y="0"/>
                  </a:lnTo>
                  <a:lnTo>
                    <a:pt x="749227" y="446232"/>
                  </a:lnTo>
                  <a:lnTo>
                    <a:pt x="0" y="446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70406" t="-483485" r="-516504" b="-905646"/>
              </a:stretch>
            </a:blipFill>
          </p:spPr>
        </p:sp>
        <p:sp>
          <p:nvSpPr>
            <p:cNvPr id="39" name="Freeform 39"/>
            <p:cNvSpPr/>
            <p:nvPr/>
          </p:nvSpPr>
          <p:spPr>
            <a:xfrm>
              <a:off x="2933065" y="873214"/>
              <a:ext cx="404156" cy="819867"/>
            </a:xfrm>
            <a:custGeom>
              <a:avLst/>
              <a:gdLst/>
              <a:ahLst/>
              <a:cxnLst/>
              <a:rect l="l" t="t" r="r" b="b"/>
              <a:pathLst>
                <a:path w="404156" h="819867">
                  <a:moveTo>
                    <a:pt x="0" y="0"/>
                  </a:moveTo>
                  <a:lnTo>
                    <a:pt x="404156" y="0"/>
                  </a:lnTo>
                  <a:lnTo>
                    <a:pt x="404156" y="819867"/>
                  </a:lnTo>
                  <a:lnTo>
                    <a:pt x="0" y="8198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81702" t="-368035" r="-791427" b="-356739"/>
              </a:stretch>
            </a:blipFill>
          </p:spPr>
        </p:sp>
      </p:grpSp>
      <p:sp>
        <p:nvSpPr>
          <p:cNvPr id="40" name="TextBox 40"/>
          <p:cNvSpPr txBox="1"/>
          <p:nvPr/>
        </p:nvSpPr>
        <p:spPr>
          <a:xfrm>
            <a:off x="762000" y="129533"/>
            <a:ext cx="8664453" cy="8716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CARD 05 </a:t>
            </a:r>
            <a:r>
              <a:rPr lang="en-US" sz="3000" b="1" dirty="0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- ETHYL ACETATE (ethyl ethanoate)</a:t>
            </a:r>
          </a:p>
          <a:p>
            <a:pPr algn="ctr">
              <a:lnSpc>
                <a:spcPts val="2800"/>
              </a:lnSpc>
            </a:pPr>
            <a:r>
              <a:rPr lang="en-US" sz="2000" u="sng" dirty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Molecular Formula:</a:t>
            </a:r>
            <a:r>
              <a:rPr lang="en-US" sz="2000" b="1" u="sng" dirty="0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C4H802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164473" y="6628443"/>
            <a:ext cx="3729453" cy="382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b="1">
                <a:solidFill>
                  <a:srgbClr val="FFFFFF"/>
                </a:solidFill>
                <a:latin typeface="Radnika Next Bold"/>
                <a:ea typeface="Radnika Next Bold"/>
                <a:cs typeface="Radnika Next Bold"/>
                <a:sym typeface="Radnika Next Bold"/>
              </a:rPr>
              <a:t>- </a:t>
            </a:r>
            <a:r>
              <a:rPr lang="en-US" sz="2200" b="1" u="sng">
                <a:solidFill>
                  <a:srgbClr val="FFFFFF"/>
                </a:solidFill>
                <a:latin typeface="Radnika Next Bold"/>
                <a:ea typeface="Radnika Next Bold"/>
                <a:cs typeface="Radnika Next Bold"/>
                <a:sym typeface="Radnika Next Bold"/>
              </a:rPr>
              <a:t>VERIFICATION STRIP</a:t>
            </a:r>
            <a:r>
              <a:rPr lang="en-US" sz="2200" b="1">
                <a:solidFill>
                  <a:srgbClr val="FFFFFF"/>
                </a:solidFill>
                <a:latin typeface="Radnika Next Bold"/>
                <a:ea typeface="Radnika Next Bold"/>
                <a:cs typeface="Radnika Next Bold"/>
                <a:sym typeface="Radnika Next Bold"/>
              </a:rPr>
              <a:t> -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215251" y="1176611"/>
            <a:ext cx="2710647" cy="422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Knockout Welterweight Bold"/>
                <a:ea typeface="Knockout Welterweight Bold"/>
                <a:cs typeface="Knockout Welterweight Bold"/>
                <a:sym typeface="Knockout Welterweight Bold"/>
              </a:rPr>
              <a:t>MOLECULAR FORMULA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337665" y="1167086"/>
            <a:ext cx="2300321" cy="431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Knockout Welterweight Bold"/>
                <a:ea typeface="Knockout Welterweight Bold"/>
                <a:cs typeface="Knockout Welterweight Bold"/>
                <a:sym typeface="Knockout Welterweight Bold"/>
              </a:rPr>
              <a:t>LEWIS STRUCTURE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179949" y="3959967"/>
            <a:ext cx="2556107" cy="422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Knockout Welterweight Bold"/>
                <a:ea typeface="Knockout Welterweight Bold"/>
                <a:cs typeface="Knockout Welterweight Bold"/>
                <a:sym typeface="Knockout Welterweight Bold"/>
              </a:rPr>
              <a:t>BOND-LINE FORMULA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21851" y="3959967"/>
            <a:ext cx="4297447" cy="422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Knockout Welterweight Bold"/>
                <a:ea typeface="Knockout Welterweight Bold"/>
                <a:cs typeface="Knockout Welterweight Bold"/>
                <a:sym typeface="Knockout Welterweight Bold"/>
              </a:rPr>
              <a:t>CONDENSED STRUCTURAL FORMULA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20296" y="1973522"/>
            <a:ext cx="4916562" cy="1038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5400" dirty="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C4H8O2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363852" y="5065117"/>
            <a:ext cx="4499463" cy="4828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 dirty="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CH3COOCH2CH3</a:t>
            </a:r>
            <a:endParaRPr lang="en-US" sz="2500" dirty="0">
              <a:solidFill>
                <a:srgbClr val="FFFFFF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grpSp>
        <p:nvGrpSpPr>
          <p:cNvPr id="48" name="Group 48"/>
          <p:cNvGrpSpPr/>
          <p:nvPr/>
        </p:nvGrpSpPr>
        <p:grpSpPr>
          <a:xfrm>
            <a:off x="5438295" y="4312869"/>
            <a:ext cx="4099060" cy="2220324"/>
            <a:chOff x="0" y="0"/>
            <a:chExt cx="5465413" cy="2960432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5465413" cy="2960432"/>
            </a:xfrm>
            <a:custGeom>
              <a:avLst/>
              <a:gdLst/>
              <a:ahLst/>
              <a:cxnLst/>
              <a:rect l="l" t="t" r="r" b="b"/>
              <a:pathLst>
                <a:path w="5465413" h="2960432">
                  <a:moveTo>
                    <a:pt x="0" y="0"/>
                  </a:moveTo>
                  <a:lnTo>
                    <a:pt x="5465413" y="0"/>
                  </a:lnTo>
                  <a:lnTo>
                    <a:pt x="5465413" y="2960432"/>
                  </a:lnTo>
                  <a:lnTo>
                    <a:pt x="0" y="2960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50" name="Freeform 50"/>
            <p:cNvSpPr/>
            <p:nvPr/>
          </p:nvSpPr>
          <p:spPr>
            <a:xfrm>
              <a:off x="1284289" y="151534"/>
              <a:ext cx="653445" cy="565169"/>
            </a:xfrm>
            <a:custGeom>
              <a:avLst/>
              <a:gdLst/>
              <a:ahLst/>
              <a:cxnLst/>
              <a:rect l="l" t="t" r="r" b="b"/>
              <a:pathLst>
                <a:path w="653445" h="565169">
                  <a:moveTo>
                    <a:pt x="0" y="0"/>
                  </a:moveTo>
                  <a:lnTo>
                    <a:pt x="653445" y="0"/>
                  </a:lnTo>
                  <a:lnTo>
                    <a:pt x="653445" y="565168"/>
                  </a:lnTo>
                  <a:lnTo>
                    <a:pt x="0" y="5651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155539" r="-506468" b="-377223"/>
              </a:stretch>
            </a:blipFill>
          </p:spPr>
        </p:sp>
        <p:sp>
          <p:nvSpPr>
            <p:cNvPr id="51" name="Freeform 51"/>
            <p:cNvSpPr/>
            <p:nvPr/>
          </p:nvSpPr>
          <p:spPr>
            <a:xfrm>
              <a:off x="2502155" y="2173240"/>
              <a:ext cx="496921" cy="636075"/>
            </a:xfrm>
            <a:custGeom>
              <a:avLst/>
              <a:gdLst/>
              <a:ahLst/>
              <a:cxnLst/>
              <a:rect l="l" t="t" r="r" b="b"/>
              <a:pathLst>
                <a:path w="496921" h="636075">
                  <a:moveTo>
                    <a:pt x="0" y="0"/>
                  </a:moveTo>
                  <a:lnTo>
                    <a:pt x="496921" y="0"/>
                  </a:lnTo>
                  <a:lnTo>
                    <a:pt x="496921" y="636076"/>
                  </a:lnTo>
                  <a:lnTo>
                    <a:pt x="0" y="6360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458753" t="-327986" r="-452638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3526" y="1104352"/>
            <a:ext cx="4734098" cy="2512715"/>
            <a:chOff x="0" y="0"/>
            <a:chExt cx="1650230" cy="8758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50230" cy="875892"/>
            </a:xfrm>
            <a:custGeom>
              <a:avLst/>
              <a:gdLst/>
              <a:ahLst/>
              <a:cxnLst/>
              <a:rect l="l" t="t" r="r" b="b"/>
              <a:pathLst>
                <a:path w="1650230" h="875892">
                  <a:moveTo>
                    <a:pt x="24530" y="0"/>
                  </a:moveTo>
                  <a:lnTo>
                    <a:pt x="1625700" y="0"/>
                  </a:lnTo>
                  <a:cubicBezTo>
                    <a:pt x="1632206" y="0"/>
                    <a:pt x="1638445" y="2584"/>
                    <a:pt x="1643045" y="7185"/>
                  </a:cubicBezTo>
                  <a:cubicBezTo>
                    <a:pt x="1647646" y="11785"/>
                    <a:pt x="1650230" y="18024"/>
                    <a:pt x="1650230" y="24530"/>
                  </a:cubicBezTo>
                  <a:lnTo>
                    <a:pt x="1650230" y="851362"/>
                  </a:lnTo>
                  <a:cubicBezTo>
                    <a:pt x="1650230" y="857868"/>
                    <a:pt x="1647646" y="864107"/>
                    <a:pt x="1643045" y="868707"/>
                  </a:cubicBezTo>
                  <a:cubicBezTo>
                    <a:pt x="1638445" y="873308"/>
                    <a:pt x="1632206" y="875892"/>
                    <a:pt x="1625700" y="875892"/>
                  </a:cubicBezTo>
                  <a:lnTo>
                    <a:pt x="24530" y="875892"/>
                  </a:lnTo>
                  <a:cubicBezTo>
                    <a:pt x="18024" y="875892"/>
                    <a:pt x="11785" y="873308"/>
                    <a:pt x="7185" y="868707"/>
                  </a:cubicBezTo>
                  <a:cubicBezTo>
                    <a:pt x="2584" y="864107"/>
                    <a:pt x="0" y="857868"/>
                    <a:pt x="0" y="851362"/>
                  </a:cubicBezTo>
                  <a:lnTo>
                    <a:pt x="0" y="24530"/>
                  </a:lnTo>
                  <a:cubicBezTo>
                    <a:pt x="0" y="18024"/>
                    <a:pt x="2584" y="11785"/>
                    <a:pt x="7185" y="7185"/>
                  </a:cubicBezTo>
                  <a:cubicBezTo>
                    <a:pt x="11785" y="2584"/>
                    <a:pt x="18024" y="0"/>
                    <a:pt x="24530" y="0"/>
                  </a:cubicBezTo>
                  <a:close/>
                </a:path>
              </a:pathLst>
            </a:custGeom>
            <a:solidFill>
              <a:srgbClr val="2A0DA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650230" cy="904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0086" y="6533193"/>
            <a:ext cx="9818228" cy="1124459"/>
            <a:chOff x="0" y="0"/>
            <a:chExt cx="3422476" cy="3919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422476" cy="391968"/>
            </a:xfrm>
            <a:custGeom>
              <a:avLst/>
              <a:gdLst/>
              <a:ahLst/>
              <a:cxnLst/>
              <a:rect l="l" t="t" r="r" b="b"/>
              <a:pathLst>
                <a:path w="3422476" h="391968">
                  <a:moveTo>
                    <a:pt x="0" y="0"/>
                  </a:moveTo>
                  <a:lnTo>
                    <a:pt x="3422476" y="0"/>
                  </a:lnTo>
                  <a:lnTo>
                    <a:pt x="3422476" y="391968"/>
                  </a:lnTo>
                  <a:lnTo>
                    <a:pt x="0" y="391968"/>
                  </a:lnTo>
                  <a:close/>
                </a:path>
              </a:pathLst>
            </a:custGeom>
            <a:solidFill>
              <a:srgbClr val="150068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3422476" cy="4205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03526" y="7137394"/>
            <a:ext cx="2304781" cy="321693"/>
            <a:chOff x="0" y="0"/>
            <a:chExt cx="3073041" cy="42892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28924" cy="428924"/>
            </a:xfrm>
            <a:custGeom>
              <a:avLst/>
              <a:gdLst/>
              <a:ahLst/>
              <a:cxnLst/>
              <a:rect l="l" t="t" r="r" b="b"/>
              <a:pathLst>
                <a:path w="428924" h="428924">
                  <a:moveTo>
                    <a:pt x="0" y="0"/>
                  </a:moveTo>
                  <a:lnTo>
                    <a:pt x="428924" y="0"/>
                  </a:lnTo>
                  <a:lnTo>
                    <a:pt x="428924" y="428924"/>
                  </a:lnTo>
                  <a:lnTo>
                    <a:pt x="0" y="428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428924" y="23952"/>
              <a:ext cx="2644117" cy="342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Radnika Next"/>
                  <a:ea typeface="Radnika Next"/>
                  <a:cs typeface="Radnika Next"/>
                  <a:sym typeface="Radnika Next"/>
                </a:rPr>
                <a:t>Atom Count Verified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768364" y="7138035"/>
            <a:ext cx="2000779" cy="321693"/>
            <a:chOff x="0" y="0"/>
            <a:chExt cx="2667705" cy="428924"/>
          </a:xfrm>
        </p:grpSpPr>
        <p:sp>
          <p:nvSpPr>
            <p:cNvPr id="12" name="TextBox 12"/>
            <p:cNvSpPr txBox="1"/>
            <p:nvPr/>
          </p:nvSpPr>
          <p:spPr>
            <a:xfrm>
              <a:off x="457418" y="23952"/>
              <a:ext cx="2210287" cy="342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Radnika Next"/>
                  <a:ea typeface="Radnika Next"/>
                  <a:cs typeface="Radnika Next"/>
                  <a:sym typeface="Radnika Next"/>
                </a:rPr>
                <a:t>Valence Checked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428924" cy="428924"/>
            </a:xfrm>
            <a:custGeom>
              <a:avLst/>
              <a:gdLst/>
              <a:ahLst/>
              <a:cxnLst/>
              <a:rect l="l" t="t" r="r" b="b"/>
              <a:pathLst>
                <a:path w="428924" h="428924">
                  <a:moveTo>
                    <a:pt x="0" y="0"/>
                  </a:moveTo>
                  <a:lnTo>
                    <a:pt x="428924" y="0"/>
                  </a:lnTo>
                  <a:lnTo>
                    <a:pt x="428924" y="428924"/>
                  </a:lnTo>
                  <a:lnTo>
                    <a:pt x="0" y="428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5090954" y="7138035"/>
            <a:ext cx="2379111" cy="321693"/>
            <a:chOff x="0" y="0"/>
            <a:chExt cx="3172148" cy="428924"/>
          </a:xfrm>
        </p:grpSpPr>
        <p:sp>
          <p:nvSpPr>
            <p:cNvPr id="15" name="TextBox 15"/>
            <p:cNvSpPr txBox="1"/>
            <p:nvPr/>
          </p:nvSpPr>
          <p:spPr>
            <a:xfrm>
              <a:off x="428924" y="23952"/>
              <a:ext cx="2743223" cy="342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Radnika Next"/>
                  <a:ea typeface="Radnika Next"/>
                  <a:cs typeface="Radnika Next"/>
                  <a:sym typeface="Radnika Next"/>
                </a:rPr>
                <a:t>Bond Order Checked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428924" cy="428924"/>
            </a:xfrm>
            <a:custGeom>
              <a:avLst/>
              <a:gdLst/>
              <a:ahLst/>
              <a:cxnLst/>
              <a:rect l="l" t="t" r="r" b="b"/>
              <a:pathLst>
                <a:path w="428924" h="428924">
                  <a:moveTo>
                    <a:pt x="0" y="0"/>
                  </a:moveTo>
                  <a:lnTo>
                    <a:pt x="428924" y="0"/>
                  </a:lnTo>
                  <a:lnTo>
                    <a:pt x="428924" y="428924"/>
                  </a:lnTo>
                  <a:lnTo>
                    <a:pt x="0" y="428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203526" y="3849747"/>
            <a:ext cx="4734098" cy="2512715"/>
            <a:chOff x="0" y="0"/>
            <a:chExt cx="1650230" cy="87589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50230" cy="875892"/>
            </a:xfrm>
            <a:custGeom>
              <a:avLst/>
              <a:gdLst/>
              <a:ahLst/>
              <a:cxnLst/>
              <a:rect l="l" t="t" r="r" b="b"/>
              <a:pathLst>
                <a:path w="1650230" h="875892">
                  <a:moveTo>
                    <a:pt x="24530" y="0"/>
                  </a:moveTo>
                  <a:lnTo>
                    <a:pt x="1625700" y="0"/>
                  </a:lnTo>
                  <a:cubicBezTo>
                    <a:pt x="1632206" y="0"/>
                    <a:pt x="1638445" y="2584"/>
                    <a:pt x="1643045" y="7185"/>
                  </a:cubicBezTo>
                  <a:cubicBezTo>
                    <a:pt x="1647646" y="11785"/>
                    <a:pt x="1650230" y="18024"/>
                    <a:pt x="1650230" y="24530"/>
                  </a:cubicBezTo>
                  <a:lnTo>
                    <a:pt x="1650230" y="851362"/>
                  </a:lnTo>
                  <a:cubicBezTo>
                    <a:pt x="1650230" y="857868"/>
                    <a:pt x="1647646" y="864107"/>
                    <a:pt x="1643045" y="868707"/>
                  </a:cubicBezTo>
                  <a:cubicBezTo>
                    <a:pt x="1638445" y="873308"/>
                    <a:pt x="1632206" y="875892"/>
                    <a:pt x="1625700" y="875892"/>
                  </a:cubicBezTo>
                  <a:lnTo>
                    <a:pt x="24530" y="875892"/>
                  </a:lnTo>
                  <a:cubicBezTo>
                    <a:pt x="18024" y="875892"/>
                    <a:pt x="11785" y="873308"/>
                    <a:pt x="7185" y="868707"/>
                  </a:cubicBezTo>
                  <a:cubicBezTo>
                    <a:pt x="2584" y="864107"/>
                    <a:pt x="0" y="857868"/>
                    <a:pt x="0" y="851362"/>
                  </a:cubicBezTo>
                  <a:lnTo>
                    <a:pt x="0" y="24530"/>
                  </a:lnTo>
                  <a:cubicBezTo>
                    <a:pt x="0" y="18024"/>
                    <a:pt x="2584" y="11785"/>
                    <a:pt x="7185" y="7185"/>
                  </a:cubicBezTo>
                  <a:cubicBezTo>
                    <a:pt x="11785" y="2584"/>
                    <a:pt x="18024" y="0"/>
                    <a:pt x="24530" y="0"/>
                  </a:cubicBezTo>
                  <a:close/>
                </a:path>
              </a:pathLst>
            </a:custGeom>
            <a:solidFill>
              <a:srgbClr val="2A0DA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1650230" cy="904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120777" y="1104352"/>
            <a:ext cx="4734098" cy="2512715"/>
            <a:chOff x="0" y="0"/>
            <a:chExt cx="1650230" cy="87589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650230" cy="875892"/>
            </a:xfrm>
            <a:custGeom>
              <a:avLst/>
              <a:gdLst/>
              <a:ahLst/>
              <a:cxnLst/>
              <a:rect l="l" t="t" r="r" b="b"/>
              <a:pathLst>
                <a:path w="1650230" h="875892">
                  <a:moveTo>
                    <a:pt x="24530" y="0"/>
                  </a:moveTo>
                  <a:lnTo>
                    <a:pt x="1625700" y="0"/>
                  </a:lnTo>
                  <a:cubicBezTo>
                    <a:pt x="1632206" y="0"/>
                    <a:pt x="1638445" y="2584"/>
                    <a:pt x="1643045" y="7185"/>
                  </a:cubicBezTo>
                  <a:cubicBezTo>
                    <a:pt x="1647646" y="11785"/>
                    <a:pt x="1650230" y="18024"/>
                    <a:pt x="1650230" y="24530"/>
                  </a:cubicBezTo>
                  <a:lnTo>
                    <a:pt x="1650230" y="851362"/>
                  </a:lnTo>
                  <a:cubicBezTo>
                    <a:pt x="1650230" y="857868"/>
                    <a:pt x="1647646" y="864107"/>
                    <a:pt x="1643045" y="868707"/>
                  </a:cubicBezTo>
                  <a:cubicBezTo>
                    <a:pt x="1638445" y="873308"/>
                    <a:pt x="1632206" y="875892"/>
                    <a:pt x="1625700" y="875892"/>
                  </a:cubicBezTo>
                  <a:lnTo>
                    <a:pt x="24530" y="875892"/>
                  </a:lnTo>
                  <a:cubicBezTo>
                    <a:pt x="18024" y="875892"/>
                    <a:pt x="11785" y="873308"/>
                    <a:pt x="7185" y="868707"/>
                  </a:cubicBezTo>
                  <a:cubicBezTo>
                    <a:pt x="2584" y="864107"/>
                    <a:pt x="0" y="857868"/>
                    <a:pt x="0" y="851362"/>
                  </a:cubicBezTo>
                  <a:lnTo>
                    <a:pt x="0" y="24530"/>
                  </a:lnTo>
                  <a:cubicBezTo>
                    <a:pt x="0" y="18024"/>
                    <a:pt x="2584" y="11785"/>
                    <a:pt x="7185" y="7185"/>
                  </a:cubicBezTo>
                  <a:cubicBezTo>
                    <a:pt x="11785" y="2584"/>
                    <a:pt x="18024" y="0"/>
                    <a:pt x="24530" y="0"/>
                  </a:cubicBezTo>
                  <a:close/>
                </a:path>
              </a:pathLst>
            </a:custGeom>
            <a:solidFill>
              <a:srgbClr val="2A0DA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1650230" cy="904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090954" y="3868078"/>
            <a:ext cx="4734098" cy="2512715"/>
            <a:chOff x="0" y="0"/>
            <a:chExt cx="1650230" cy="87589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650230" cy="875892"/>
            </a:xfrm>
            <a:custGeom>
              <a:avLst/>
              <a:gdLst/>
              <a:ahLst/>
              <a:cxnLst/>
              <a:rect l="l" t="t" r="r" b="b"/>
              <a:pathLst>
                <a:path w="1650230" h="875892">
                  <a:moveTo>
                    <a:pt x="24530" y="0"/>
                  </a:moveTo>
                  <a:lnTo>
                    <a:pt x="1625700" y="0"/>
                  </a:lnTo>
                  <a:cubicBezTo>
                    <a:pt x="1632206" y="0"/>
                    <a:pt x="1638445" y="2584"/>
                    <a:pt x="1643045" y="7185"/>
                  </a:cubicBezTo>
                  <a:cubicBezTo>
                    <a:pt x="1647646" y="11785"/>
                    <a:pt x="1650230" y="18024"/>
                    <a:pt x="1650230" y="24530"/>
                  </a:cubicBezTo>
                  <a:lnTo>
                    <a:pt x="1650230" y="851362"/>
                  </a:lnTo>
                  <a:cubicBezTo>
                    <a:pt x="1650230" y="857868"/>
                    <a:pt x="1647646" y="864107"/>
                    <a:pt x="1643045" y="868707"/>
                  </a:cubicBezTo>
                  <a:cubicBezTo>
                    <a:pt x="1638445" y="873308"/>
                    <a:pt x="1632206" y="875892"/>
                    <a:pt x="1625700" y="875892"/>
                  </a:cubicBezTo>
                  <a:lnTo>
                    <a:pt x="24530" y="875892"/>
                  </a:lnTo>
                  <a:cubicBezTo>
                    <a:pt x="18024" y="875892"/>
                    <a:pt x="11785" y="873308"/>
                    <a:pt x="7185" y="868707"/>
                  </a:cubicBezTo>
                  <a:cubicBezTo>
                    <a:pt x="2584" y="864107"/>
                    <a:pt x="0" y="857868"/>
                    <a:pt x="0" y="851362"/>
                  </a:cubicBezTo>
                  <a:lnTo>
                    <a:pt x="0" y="24530"/>
                  </a:lnTo>
                  <a:cubicBezTo>
                    <a:pt x="0" y="18024"/>
                    <a:pt x="2584" y="11785"/>
                    <a:pt x="7185" y="7185"/>
                  </a:cubicBezTo>
                  <a:cubicBezTo>
                    <a:pt x="11785" y="2584"/>
                    <a:pt x="18024" y="0"/>
                    <a:pt x="24530" y="0"/>
                  </a:cubicBezTo>
                  <a:close/>
                </a:path>
              </a:pathLst>
            </a:custGeom>
            <a:solidFill>
              <a:srgbClr val="2A0DA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1650230" cy="904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AutoShape 26"/>
          <p:cNvSpPr/>
          <p:nvPr/>
        </p:nvSpPr>
        <p:spPr>
          <a:xfrm>
            <a:off x="310661" y="1684898"/>
            <a:ext cx="4499464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AutoShape 27"/>
          <p:cNvSpPr/>
          <p:nvPr/>
        </p:nvSpPr>
        <p:spPr>
          <a:xfrm>
            <a:off x="5227223" y="1703948"/>
            <a:ext cx="4499464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AutoShape 28"/>
          <p:cNvSpPr/>
          <p:nvPr/>
        </p:nvSpPr>
        <p:spPr>
          <a:xfrm>
            <a:off x="345191" y="4466515"/>
            <a:ext cx="4499464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" name="AutoShape 29"/>
          <p:cNvSpPr/>
          <p:nvPr/>
        </p:nvSpPr>
        <p:spPr>
          <a:xfrm>
            <a:off x="5208271" y="4478712"/>
            <a:ext cx="4499464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0" name="Group 30"/>
          <p:cNvGrpSpPr/>
          <p:nvPr/>
        </p:nvGrpSpPr>
        <p:grpSpPr>
          <a:xfrm>
            <a:off x="7727240" y="7138035"/>
            <a:ext cx="2147247" cy="321693"/>
            <a:chOff x="0" y="0"/>
            <a:chExt cx="2862995" cy="428924"/>
          </a:xfrm>
        </p:grpSpPr>
        <p:sp>
          <p:nvSpPr>
            <p:cNvPr id="31" name="TextBox 31"/>
            <p:cNvSpPr txBox="1"/>
            <p:nvPr/>
          </p:nvSpPr>
          <p:spPr>
            <a:xfrm>
              <a:off x="428924" y="23952"/>
              <a:ext cx="2434071" cy="342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Radnika Next"/>
                  <a:ea typeface="Radnika Next"/>
                  <a:cs typeface="Radnika Next"/>
                  <a:sym typeface="Radnika Next"/>
                </a:rPr>
                <a:t>Same Connectivity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0" y="0"/>
              <a:ext cx="428924" cy="428924"/>
            </a:xfrm>
            <a:custGeom>
              <a:avLst/>
              <a:gdLst/>
              <a:ahLst/>
              <a:cxnLst/>
              <a:rect l="l" t="t" r="r" b="b"/>
              <a:pathLst>
                <a:path w="428924" h="428924">
                  <a:moveTo>
                    <a:pt x="0" y="0"/>
                  </a:moveTo>
                  <a:lnTo>
                    <a:pt x="428924" y="0"/>
                  </a:lnTo>
                  <a:lnTo>
                    <a:pt x="428924" y="428924"/>
                  </a:lnTo>
                  <a:lnTo>
                    <a:pt x="0" y="428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33" name="Group 33"/>
          <p:cNvGrpSpPr/>
          <p:nvPr/>
        </p:nvGrpSpPr>
        <p:grpSpPr>
          <a:xfrm>
            <a:off x="2068911" y="164083"/>
            <a:ext cx="5920578" cy="559269"/>
            <a:chOff x="0" y="0"/>
            <a:chExt cx="2063818" cy="19495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063818" cy="194952"/>
            </a:xfrm>
            <a:custGeom>
              <a:avLst/>
              <a:gdLst/>
              <a:ahLst/>
              <a:cxnLst/>
              <a:rect l="l" t="t" r="r" b="b"/>
              <a:pathLst>
                <a:path w="2063818" h="194952">
                  <a:moveTo>
                    <a:pt x="39229" y="0"/>
                  </a:moveTo>
                  <a:lnTo>
                    <a:pt x="2024589" y="0"/>
                  </a:lnTo>
                  <a:cubicBezTo>
                    <a:pt x="2046255" y="0"/>
                    <a:pt x="2063818" y="17563"/>
                    <a:pt x="2063818" y="39229"/>
                  </a:cubicBezTo>
                  <a:lnTo>
                    <a:pt x="2063818" y="155723"/>
                  </a:lnTo>
                  <a:cubicBezTo>
                    <a:pt x="2063818" y="177389"/>
                    <a:pt x="2046255" y="194952"/>
                    <a:pt x="2024589" y="194952"/>
                  </a:cubicBezTo>
                  <a:lnTo>
                    <a:pt x="39229" y="194952"/>
                  </a:lnTo>
                  <a:cubicBezTo>
                    <a:pt x="17563" y="194952"/>
                    <a:pt x="0" y="177389"/>
                    <a:pt x="0" y="155723"/>
                  </a:cubicBezTo>
                  <a:lnTo>
                    <a:pt x="0" y="39229"/>
                  </a:lnTo>
                  <a:cubicBezTo>
                    <a:pt x="0" y="17563"/>
                    <a:pt x="17563" y="0"/>
                    <a:pt x="39229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0" y="-28575"/>
              <a:ext cx="2063818" cy="2235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36" name="Freeform 36"/>
          <p:cNvSpPr/>
          <p:nvPr/>
        </p:nvSpPr>
        <p:spPr>
          <a:xfrm>
            <a:off x="6454550" y="1681537"/>
            <a:ext cx="2066551" cy="1935530"/>
          </a:xfrm>
          <a:custGeom>
            <a:avLst/>
            <a:gdLst/>
            <a:ahLst/>
            <a:cxnLst/>
            <a:rect l="l" t="t" r="r" b="b"/>
            <a:pathLst>
              <a:path w="2066551" h="1935530">
                <a:moveTo>
                  <a:pt x="0" y="0"/>
                </a:moveTo>
                <a:lnTo>
                  <a:pt x="2066551" y="0"/>
                </a:lnTo>
                <a:lnTo>
                  <a:pt x="2066551" y="1935530"/>
                </a:lnTo>
                <a:lnTo>
                  <a:pt x="0" y="19355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099" t="-12911" r="-9015" b="-12130"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6596576" y="4458421"/>
            <a:ext cx="1696276" cy="1941790"/>
          </a:xfrm>
          <a:custGeom>
            <a:avLst/>
            <a:gdLst/>
            <a:ahLst/>
            <a:cxnLst/>
            <a:rect l="l" t="t" r="r" b="b"/>
            <a:pathLst>
              <a:path w="1696276" h="1941790">
                <a:moveTo>
                  <a:pt x="0" y="0"/>
                </a:moveTo>
                <a:lnTo>
                  <a:pt x="1696276" y="0"/>
                </a:lnTo>
                <a:lnTo>
                  <a:pt x="1696276" y="1941790"/>
                </a:lnTo>
                <a:lnTo>
                  <a:pt x="0" y="19417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8" name="TextBox 38"/>
          <p:cNvSpPr txBox="1"/>
          <p:nvPr/>
        </p:nvSpPr>
        <p:spPr>
          <a:xfrm>
            <a:off x="2365236" y="129533"/>
            <a:ext cx="5327928" cy="898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CARD 06</a:t>
            </a:r>
            <a:r>
              <a:rPr lang="en-US" sz="3000" b="1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- CYCLOHEXANE</a:t>
            </a:r>
          </a:p>
          <a:p>
            <a:pPr algn="ctr">
              <a:lnSpc>
                <a:spcPts val="2800"/>
              </a:lnSpc>
            </a:pPr>
            <a:r>
              <a:rPr lang="en-US" sz="2000" u="sng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Molecular Formula:</a:t>
            </a:r>
            <a:r>
              <a:rPr lang="en-US" sz="2000" b="1" u="sng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C6H12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164473" y="6628443"/>
            <a:ext cx="3729453" cy="382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b="1">
                <a:solidFill>
                  <a:srgbClr val="FFFFFF"/>
                </a:solidFill>
                <a:latin typeface="Radnika Next Bold"/>
                <a:ea typeface="Radnika Next Bold"/>
                <a:cs typeface="Radnika Next Bold"/>
                <a:sym typeface="Radnika Next Bold"/>
              </a:rPr>
              <a:t>- </a:t>
            </a:r>
            <a:r>
              <a:rPr lang="en-US" sz="2200" b="1" u="sng">
                <a:solidFill>
                  <a:srgbClr val="FFFFFF"/>
                </a:solidFill>
                <a:latin typeface="Radnika Next Bold"/>
                <a:ea typeface="Radnika Next Bold"/>
                <a:cs typeface="Radnika Next Bold"/>
                <a:sym typeface="Radnika Next Bold"/>
              </a:rPr>
              <a:t>VERIFICATION STRIP</a:t>
            </a:r>
            <a:r>
              <a:rPr lang="en-US" sz="2200" b="1">
                <a:solidFill>
                  <a:srgbClr val="FFFFFF"/>
                </a:solidFill>
                <a:latin typeface="Radnika Next Bold"/>
                <a:ea typeface="Radnika Next Bold"/>
                <a:cs typeface="Radnika Next Bold"/>
                <a:sym typeface="Radnika Next Bold"/>
              </a:rPr>
              <a:t> -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215251" y="1176611"/>
            <a:ext cx="2710647" cy="422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Knockout Welterweight Bold"/>
                <a:ea typeface="Knockout Welterweight Bold"/>
                <a:cs typeface="Knockout Welterweight Bold"/>
                <a:sym typeface="Knockout Welterweight Bold"/>
              </a:rPr>
              <a:t>MOLECULAR FORMULA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337665" y="1167086"/>
            <a:ext cx="2300321" cy="431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Knockout Welterweight Bold"/>
                <a:ea typeface="Knockout Welterweight Bold"/>
                <a:cs typeface="Knockout Welterweight Bold"/>
                <a:sym typeface="Knockout Welterweight Bold"/>
              </a:rPr>
              <a:t>LEWIS STRUCTURE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179949" y="3959967"/>
            <a:ext cx="2556107" cy="422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Knockout Welterweight Bold"/>
                <a:ea typeface="Knockout Welterweight Bold"/>
                <a:cs typeface="Knockout Welterweight Bold"/>
                <a:sym typeface="Knockout Welterweight Bold"/>
              </a:rPr>
              <a:t>BOND-LINE FORMULA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21851" y="3959967"/>
            <a:ext cx="4297447" cy="422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Knockout Welterweight Bold"/>
                <a:ea typeface="Knockout Welterweight Bold"/>
                <a:cs typeface="Knockout Welterweight Bold"/>
                <a:sym typeface="Knockout Welterweight Bold"/>
              </a:rPr>
              <a:t>CONDENSED STRUCTURAL FORMULA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43702" y="2054678"/>
            <a:ext cx="3529209" cy="1038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dirty="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C6H12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96005" y="4895140"/>
            <a:ext cx="4448651" cy="619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200" dirty="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cyclo-(CH2)6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3526" y="1104352"/>
            <a:ext cx="4734098" cy="2512715"/>
            <a:chOff x="0" y="0"/>
            <a:chExt cx="1650230" cy="8758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50230" cy="875892"/>
            </a:xfrm>
            <a:custGeom>
              <a:avLst/>
              <a:gdLst/>
              <a:ahLst/>
              <a:cxnLst/>
              <a:rect l="l" t="t" r="r" b="b"/>
              <a:pathLst>
                <a:path w="1650230" h="875892">
                  <a:moveTo>
                    <a:pt x="24530" y="0"/>
                  </a:moveTo>
                  <a:lnTo>
                    <a:pt x="1625700" y="0"/>
                  </a:lnTo>
                  <a:cubicBezTo>
                    <a:pt x="1632206" y="0"/>
                    <a:pt x="1638445" y="2584"/>
                    <a:pt x="1643045" y="7185"/>
                  </a:cubicBezTo>
                  <a:cubicBezTo>
                    <a:pt x="1647646" y="11785"/>
                    <a:pt x="1650230" y="18024"/>
                    <a:pt x="1650230" y="24530"/>
                  </a:cubicBezTo>
                  <a:lnTo>
                    <a:pt x="1650230" y="851362"/>
                  </a:lnTo>
                  <a:cubicBezTo>
                    <a:pt x="1650230" y="857868"/>
                    <a:pt x="1647646" y="864107"/>
                    <a:pt x="1643045" y="868707"/>
                  </a:cubicBezTo>
                  <a:cubicBezTo>
                    <a:pt x="1638445" y="873308"/>
                    <a:pt x="1632206" y="875892"/>
                    <a:pt x="1625700" y="875892"/>
                  </a:cubicBezTo>
                  <a:lnTo>
                    <a:pt x="24530" y="875892"/>
                  </a:lnTo>
                  <a:cubicBezTo>
                    <a:pt x="18024" y="875892"/>
                    <a:pt x="11785" y="873308"/>
                    <a:pt x="7185" y="868707"/>
                  </a:cubicBezTo>
                  <a:cubicBezTo>
                    <a:pt x="2584" y="864107"/>
                    <a:pt x="0" y="857868"/>
                    <a:pt x="0" y="851362"/>
                  </a:cubicBezTo>
                  <a:lnTo>
                    <a:pt x="0" y="24530"/>
                  </a:lnTo>
                  <a:cubicBezTo>
                    <a:pt x="0" y="18024"/>
                    <a:pt x="2584" y="11785"/>
                    <a:pt x="7185" y="7185"/>
                  </a:cubicBezTo>
                  <a:cubicBezTo>
                    <a:pt x="11785" y="2584"/>
                    <a:pt x="18024" y="0"/>
                    <a:pt x="24530" y="0"/>
                  </a:cubicBezTo>
                  <a:close/>
                </a:path>
              </a:pathLst>
            </a:custGeom>
            <a:solidFill>
              <a:srgbClr val="2A0DA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650230" cy="904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0086" y="6533193"/>
            <a:ext cx="9818228" cy="1124459"/>
            <a:chOff x="0" y="0"/>
            <a:chExt cx="3422476" cy="3919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422476" cy="391968"/>
            </a:xfrm>
            <a:custGeom>
              <a:avLst/>
              <a:gdLst/>
              <a:ahLst/>
              <a:cxnLst/>
              <a:rect l="l" t="t" r="r" b="b"/>
              <a:pathLst>
                <a:path w="3422476" h="391968">
                  <a:moveTo>
                    <a:pt x="0" y="0"/>
                  </a:moveTo>
                  <a:lnTo>
                    <a:pt x="3422476" y="0"/>
                  </a:lnTo>
                  <a:lnTo>
                    <a:pt x="3422476" y="391968"/>
                  </a:lnTo>
                  <a:lnTo>
                    <a:pt x="0" y="391968"/>
                  </a:lnTo>
                  <a:close/>
                </a:path>
              </a:pathLst>
            </a:custGeom>
            <a:solidFill>
              <a:srgbClr val="150068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3422476" cy="4205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03526" y="7137394"/>
            <a:ext cx="2304781" cy="321693"/>
            <a:chOff x="0" y="0"/>
            <a:chExt cx="3073041" cy="42892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28924" cy="428924"/>
            </a:xfrm>
            <a:custGeom>
              <a:avLst/>
              <a:gdLst/>
              <a:ahLst/>
              <a:cxnLst/>
              <a:rect l="l" t="t" r="r" b="b"/>
              <a:pathLst>
                <a:path w="428924" h="428924">
                  <a:moveTo>
                    <a:pt x="0" y="0"/>
                  </a:moveTo>
                  <a:lnTo>
                    <a:pt x="428924" y="0"/>
                  </a:lnTo>
                  <a:lnTo>
                    <a:pt x="428924" y="428924"/>
                  </a:lnTo>
                  <a:lnTo>
                    <a:pt x="0" y="428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428924" y="23952"/>
              <a:ext cx="2644117" cy="342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Radnika Next"/>
                  <a:ea typeface="Radnika Next"/>
                  <a:cs typeface="Radnika Next"/>
                  <a:sym typeface="Radnika Next"/>
                </a:rPr>
                <a:t>Atom Count Verified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768364" y="7138035"/>
            <a:ext cx="2000779" cy="321693"/>
            <a:chOff x="0" y="0"/>
            <a:chExt cx="2667705" cy="428924"/>
          </a:xfrm>
        </p:grpSpPr>
        <p:sp>
          <p:nvSpPr>
            <p:cNvPr id="12" name="TextBox 12"/>
            <p:cNvSpPr txBox="1"/>
            <p:nvPr/>
          </p:nvSpPr>
          <p:spPr>
            <a:xfrm>
              <a:off x="457418" y="23952"/>
              <a:ext cx="2210287" cy="342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Radnika Next"/>
                  <a:ea typeface="Radnika Next"/>
                  <a:cs typeface="Radnika Next"/>
                  <a:sym typeface="Radnika Next"/>
                </a:rPr>
                <a:t>Valence Checked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428924" cy="428924"/>
            </a:xfrm>
            <a:custGeom>
              <a:avLst/>
              <a:gdLst/>
              <a:ahLst/>
              <a:cxnLst/>
              <a:rect l="l" t="t" r="r" b="b"/>
              <a:pathLst>
                <a:path w="428924" h="428924">
                  <a:moveTo>
                    <a:pt x="0" y="0"/>
                  </a:moveTo>
                  <a:lnTo>
                    <a:pt x="428924" y="0"/>
                  </a:lnTo>
                  <a:lnTo>
                    <a:pt x="428924" y="428924"/>
                  </a:lnTo>
                  <a:lnTo>
                    <a:pt x="0" y="428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5090954" y="7138035"/>
            <a:ext cx="2379111" cy="321693"/>
            <a:chOff x="0" y="0"/>
            <a:chExt cx="3172148" cy="428924"/>
          </a:xfrm>
        </p:grpSpPr>
        <p:sp>
          <p:nvSpPr>
            <p:cNvPr id="15" name="TextBox 15"/>
            <p:cNvSpPr txBox="1"/>
            <p:nvPr/>
          </p:nvSpPr>
          <p:spPr>
            <a:xfrm>
              <a:off x="428924" y="23952"/>
              <a:ext cx="2743223" cy="342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Radnika Next"/>
                  <a:ea typeface="Radnika Next"/>
                  <a:cs typeface="Radnika Next"/>
                  <a:sym typeface="Radnika Next"/>
                </a:rPr>
                <a:t>Bond Order Checked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428924" cy="428924"/>
            </a:xfrm>
            <a:custGeom>
              <a:avLst/>
              <a:gdLst/>
              <a:ahLst/>
              <a:cxnLst/>
              <a:rect l="l" t="t" r="r" b="b"/>
              <a:pathLst>
                <a:path w="428924" h="428924">
                  <a:moveTo>
                    <a:pt x="0" y="0"/>
                  </a:moveTo>
                  <a:lnTo>
                    <a:pt x="428924" y="0"/>
                  </a:lnTo>
                  <a:lnTo>
                    <a:pt x="428924" y="428924"/>
                  </a:lnTo>
                  <a:lnTo>
                    <a:pt x="0" y="428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203526" y="3849747"/>
            <a:ext cx="4734098" cy="2512715"/>
            <a:chOff x="0" y="0"/>
            <a:chExt cx="1650230" cy="87589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50230" cy="875892"/>
            </a:xfrm>
            <a:custGeom>
              <a:avLst/>
              <a:gdLst/>
              <a:ahLst/>
              <a:cxnLst/>
              <a:rect l="l" t="t" r="r" b="b"/>
              <a:pathLst>
                <a:path w="1650230" h="875892">
                  <a:moveTo>
                    <a:pt x="24530" y="0"/>
                  </a:moveTo>
                  <a:lnTo>
                    <a:pt x="1625700" y="0"/>
                  </a:lnTo>
                  <a:cubicBezTo>
                    <a:pt x="1632206" y="0"/>
                    <a:pt x="1638445" y="2584"/>
                    <a:pt x="1643045" y="7185"/>
                  </a:cubicBezTo>
                  <a:cubicBezTo>
                    <a:pt x="1647646" y="11785"/>
                    <a:pt x="1650230" y="18024"/>
                    <a:pt x="1650230" y="24530"/>
                  </a:cubicBezTo>
                  <a:lnTo>
                    <a:pt x="1650230" y="851362"/>
                  </a:lnTo>
                  <a:cubicBezTo>
                    <a:pt x="1650230" y="857868"/>
                    <a:pt x="1647646" y="864107"/>
                    <a:pt x="1643045" y="868707"/>
                  </a:cubicBezTo>
                  <a:cubicBezTo>
                    <a:pt x="1638445" y="873308"/>
                    <a:pt x="1632206" y="875892"/>
                    <a:pt x="1625700" y="875892"/>
                  </a:cubicBezTo>
                  <a:lnTo>
                    <a:pt x="24530" y="875892"/>
                  </a:lnTo>
                  <a:cubicBezTo>
                    <a:pt x="18024" y="875892"/>
                    <a:pt x="11785" y="873308"/>
                    <a:pt x="7185" y="868707"/>
                  </a:cubicBezTo>
                  <a:cubicBezTo>
                    <a:pt x="2584" y="864107"/>
                    <a:pt x="0" y="857868"/>
                    <a:pt x="0" y="851362"/>
                  </a:cubicBezTo>
                  <a:lnTo>
                    <a:pt x="0" y="24530"/>
                  </a:lnTo>
                  <a:cubicBezTo>
                    <a:pt x="0" y="18024"/>
                    <a:pt x="2584" y="11785"/>
                    <a:pt x="7185" y="7185"/>
                  </a:cubicBezTo>
                  <a:cubicBezTo>
                    <a:pt x="11785" y="2584"/>
                    <a:pt x="18024" y="0"/>
                    <a:pt x="24530" y="0"/>
                  </a:cubicBezTo>
                  <a:close/>
                </a:path>
              </a:pathLst>
            </a:custGeom>
            <a:solidFill>
              <a:srgbClr val="2A0DA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1650230" cy="904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120777" y="1104352"/>
            <a:ext cx="4734098" cy="2512715"/>
            <a:chOff x="0" y="0"/>
            <a:chExt cx="1650230" cy="87589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650230" cy="875892"/>
            </a:xfrm>
            <a:custGeom>
              <a:avLst/>
              <a:gdLst/>
              <a:ahLst/>
              <a:cxnLst/>
              <a:rect l="l" t="t" r="r" b="b"/>
              <a:pathLst>
                <a:path w="1650230" h="875892">
                  <a:moveTo>
                    <a:pt x="24530" y="0"/>
                  </a:moveTo>
                  <a:lnTo>
                    <a:pt x="1625700" y="0"/>
                  </a:lnTo>
                  <a:cubicBezTo>
                    <a:pt x="1632206" y="0"/>
                    <a:pt x="1638445" y="2584"/>
                    <a:pt x="1643045" y="7185"/>
                  </a:cubicBezTo>
                  <a:cubicBezTo>
                    <a:pt x="1647646" y="11785"/>
                    <a:pt x="1650230" y="18024"/>
                    <a:pt x="1650230" y="24530"/>
                  </a:cubicBezTo>
                  <a:lnTo>
                    <a:pt x="1650230" y="851362"/>
                  </a:lnTo>
                  <a:cubicBezTo>
                    <a:pt x="1650230" y="857868"/>
                    <a:pt x="1647646" y="864107"/>
                    <a:pt x="1643045" y="868707"/>
                  </a:cubicBezTo>
                  <a:cubicBezTo>
                    <a:pt x="1638445" y="873308"/>
                    <a:pt x="1632206" y="875892"/>
                    <a:pt x="1625700" y="875892"/>
                  </a:cubicBezTo>
                  <a:lnTo>
                    <a:pt x="24530" y="875892"/>
                  </a:lnTo>
                  <a:cubicBezTo>
                    <a:pt x="18024" y="875892"/>
                    <a:pt x="11785" y="873308"/>
                    <a:pt x="7185" y="868707"/>
                  </a:cubicBezTo>
                  <a:cubicBezTo>
                    <a:pt x="2584" y="864107"/>
                    <a:pt x="0" y="857868"/>
                    <a:pt x="0" y="851362"/>
                  </a:cubicBezTo>
                  <a:lnTo>
                    <a:pt x="0" y="24530"/>
                  </a:lnTo>
                  <a:cubicBezTo>
                    <a:pt x="0" y="18024"/>
                    <a:pt x="2584" y="11785"/>
                    <a:pt x="7185" y="7185"/>
                  </a:cubicBezTo>
                  <a:cubicBezTo>
                    <a:pt x="11785" y="2584"/>
                    <a:pt x="18024" y="0"/>
                    <a:pt x="24530" y="0"/>
                  </a:cubicBezTo>
                  <a:close/>
                </a:path>
              </a:pathLst>
            </a:custGeom>
            <a:solidFill>
              <a:srgbClr val="2A0DA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1650230" cy="904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090954" y="3868078"/>
            <a:ext cx="4734098" cy="2512715"/>
            <a:chOff x="0" y="0"/>
            <a:chExt cx="1650230" cy="87589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650230" cy="875892"/>
            </a:xfrm>
            <a:custGeom>
              <a:avLst/>
              <a:gdLst/>
              <a:ahLst/>
              <a:cxnLst/>
              <a:rect l="l" t="t" r="r" b="b"/>
              <a:pathLst>
                <a:path w="1650230" h="875892">
                  <a:moveTo>
                    <a:pt x="24530" y="0"/>
                  </a:moveTo>
                  <a:lnTo>
                    <a:pt x="1625700" y="0"/>
                  </a:lnTo>
                  <a:cubicBezTo>
                    <a:pt x="1632206" y="0"/>
                    <a:pt x="1638445" y="2584"/>
                    <a:pt x="1643045" y="7185"/>
                  </a:cubicBezTo>
                  <a:cubicBezTo>
                    <a:pt x="1647646" y="11785"/>
                    <a:pt x="1650230" y="18024"/>
                    <a:pt x="1650230" y="24530"/>
                  </a:cubicBezTo>
                  <a:lnTo>
                    <a:pt x="1650230" y="851362"/>
                  </a:lnTo>
                  <a:cubicBezTo>
                    <a:pt x="1650230" y="857868"/>
                    <a:pt x="1647646" y="864107"/>
                    <a:pt x="1643045" y="868707"/>
                  </a:cubicBezTo>
                  <a:cubicBezTo>
                    <a:pt x="1638445" y="873308"/>
                    <a:pt x="1632206" y="875892"/>
                    <a:pt x="1625700" y="875892"/>
                  </a:cubicBezTo>
                  <a:lnTo>
                    <a:pt x="24530" y="875892"/>
                  </a:lnTo>
                  <a:cubicBezTo>
                    <a:pt x="18024" y="875892"/>
                    <a:pt x="11785" y="873308"/>
                    <a:pt x="7185" y="868707"/>
                  </a:cubicBezTo>
                  <a:cubicBezTo>
                    <a:pt x="2584" y="864107"/>
                    <a:pt x="0" y="857868"/>
                    <a:pt x="0" y="851362"/>
                  </a:cubicBezTo>
                  <a:lnTo>
                    <a:pt x="0" y="24530"/>
                  </a:lnTo>
                  <a:cubicBezTo>
                    <a:pt x="0" y="18024"/>
                    <a:pt x="2584" y="11785"/>
                    <a:pt x="7185" y="7185"/>
                  </a:cubicBezTo>
                  <a:cubicBezTo>
                    <a:pt x="11785" y="2584"/>
                    <a:pt x="18024" y="0"/>
                    <a:pt x="24530" y="0"/>
                  </a:cubicBezTo>
                  <a:close/>
                </a:path>
              </a:pathLst>
            </a:custGeom>
            <a:solidFill>
              <a:srgbClr val="2A0DA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1650230" cy="904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AutoShape 26"/>
          <p:cNvSpPr/>
          <p:nvPr/>
        </p:nvSpPr>
        <p:spPr>
          <a:xfrm>
            <a:off x="310661" y="1684898"/>
            <a:ext cx="4499464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AutoShape 27"/>
          <p:cNvSpPr/>
          <p:nvPr/>
        </p:nvSpPr>
        <p:spPr>
          <a:xfrm>
            <a:off x="5227223" y="1703948"/>
            <a:ext cx="4499464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AutoShape 28"/>
          <p:cNvSpPr/>
          <p:nvPr/>
        </p:nvSpPr>
        <p:spPr>
          <a:xfrm>
            <a:off x="345191" y="4466515"/>
            <a:ext cx="4499464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" name="AutoShape 29"/>
          <p:cNvSpPr/>
          <p:nvPr/>
        </p:nvSpPr>
        <p:spPr>
          <a:xfrm>
            <a:off x="5208271" y="4478712"/>
            <a:ext cx="4499464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0" name="Group 30"/>
          <p:cNvGrpSpPr/>
          <p:nvPr/>
        </p:nvGrpSpPr>
        <p:grpSpPr>
          <a:xfrm>
            <a:off x="7727240" y="7138035"/>
            <a:ext cx="2147247" cy="321693"/>
            <a:chOff x="0" y="0"/>
            <a:chExt cx="2862995" cy="428924"/>
          </a:xfrm>
        </p:grpSpPr>
        <p:sp>
          <p:nvSpPr>
            <p:cNvPr id="31" name="TextBox 31"/>
            <p:cNvSpPr txBox="1"/>
            <p:nvPr/>
          </p:nvSpPr>
          <p:spPr>
            <a:xfrm>
              <a:off x="428924" y="23952"/>
              <a:ext cx="2434071" cy="342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Radnika Next"/>
                  <a:ea typeface="Radnika Next"/>
                  <a:cs typeface="Radnika Next"/>
                  <a:sym typeface="Radnika Next"/>
                </a:rPr>
                <a:t>Same Connectivity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0" y="0"/>
              <a:ext cx="428924" cy="428924"/>
            </a:xfrm>
            <a:custGeom>
              <a:avLst/>
              <a:gdLst/>
              <a:ahLst/>
              <a:cxnLst/>
              <a:rect l="l" t="t" r="r" b="b"/>
              <a:pathLst>
                <a:path w="428924" h="428924">
                  <a:moveTo>
                    <a:pt x="0" y="0"/>
                  </a:moveTo>
                  <a:lnTo>
                    <a:pt x="428924" y="0"/>
                  </a:lnTo>
                  <a:lnTo>
                    <a:pt x="428924" y="428924"/>
                  </a:lnTo>
                  <a:lnTo>
                    <a:pt x="0" y="428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33" name="Group 33"/>
          <p:cNvGrpSpPr/>
          <p:nvPr/>
        </p:nvGrpSpPr>
        <p:grpSpPr>
          <a:xfrm>
            <a:off x="2068911" y="164083"/>
            <a:ext cx="5920578" cy="559269"/>
            <a:chOff x="0" y="0"/>
            <a:chExt cx="2063818" cy="19495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063818" cy="194952"/>
            </a:xfrm>
            <a:custGeom>
              <a:avLst/>
              <a:gdLst/>
              <a:ahLst/>
              <a:cxnLst/>
              <a:rect l="l" t="t" r="r" b="b"/>
              <a:pathLst>
                <a:path w="2063818" h="194952">
                  <a:moveTo>
                    <a:pt x="39229" y="0"/>
                  </a:moveTo>
                  <a:lnTo>
                    <a:pt x="2024589" y="0"/>
                  </a:lnTo>
                  <a:cubicBezTo>
                    <a:pt x="2046255" y="0"/>
                    <a:pt x="2063818" y="17563"/>
                    <a:pt x="2063818" y="39229"/>
                  </a:cubicBezTo>
                  <a:lnTo>
                    <a:pt x="2063818" y="155723"/>
                  </a:lnTo>
                  <a:cubicBezTo>
                    <a:pt x="2063818" y="177389"/>
                    <a:pt x="2046255" y="194952"/>
                    <a:pt x="2024589" y="194952"/>
                  </a:cubicBezTo>
                  <a:lnTo>
                    <a:pt x="39229" y="194952"/>
                  </a:lnTo>
                  <a:cubicBezTo>
                    <a:pt x="17563" y="194952"/>
                    <a:pt x="0" y="177389"/>
                    <a:pt x="0" y="155723"/>
                  </a:cubicBezTo>
                  <a:lnTo>
                    <a:pt x="0" y="39229"/>
                  </a:lnTo>
                  <a:cubicBezTo>
                    <a:pt x="0" y="17563"/>
                    <a:pt x="17563" y="0"/>
                    <a:pt x="39229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0" y="-28575"/>
              <a:ext cx="2063818" cy="2235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537212" y="1684898"/>
            <a:ext cx="1901227" cy="1868855"/>
            <a:chOff x="0" y="0"/>
            <a:chExt cx="2534969" cy="2491806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534969" cy="2491806"/>
            </a:xfrm>
            <a:custGeom>
              <a:avLst/>
              <a:gdLst/>
              <a:ahLst/>
              <a:cxnLst/>
              <a:rect l="l" t="t" r="r" b="b"/>
              <a:pathLst>
                <a:path w="2534969" h="2491806">
                  <a:moveTo>
                    <a:pt x="0" y="0"/>
                  </a:moveTo>
                  <a:lnTo>
                    <a:pt x="2534969" y="0"/>
                  </a:lnTo>
                  <a:lnTo>
                    <a:pt x="2534969" y="2491806"/>
                  </a:lnTo>
                  <a:lnTo>
                    <a:pt x="0" y="24918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2803" t="-12442" r="-12857" b="-15395"/>
              </a:stretch>
            </a:blipFill>
          </p:spPr>
        </p:sp>
        <p:sp>
          <p:nvSpPr>
            <p:cNvPr id="38" name="Freeform 38"/>
            <p:cNvSpPr/>
            <p:nvPr/>
          </p:nvSpPr>
          <p:spPr>
            <a:xfrm>
              <a:off x="1056136" y="57890"/>
              <a:ext cx="463516" cy="262498"/>
            </a:xfrm>
            <a:custGeom>
              <a:avLst/>
              <a:gdLst/>
              <a:ahLst/>
              <a:cxnLst/>
              <a:rect l="l" t="t" r="r" b="b"/>
              <a:pathLst>
                <a:path w="463516" h="262498">
                  <a:moveTo>
                    <a:pt x="0" y="0"/>
                  </a:moveTo>
                  <a:lnTo>
                    <a:pt x="463516" y="0"/>
                  </a:lnTo>
                  <a:lnTo>
                    <a:pt x="463516" y="262497"/>
                  </a:lnTo>
                  <a:lnTo>
                    <a:pt x="0" y="2624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74798" t="-96657" r="-266414" b="-935590"/>
              </a:stretch>
            </a:blipFill>
          </p:spPr>
        </p:sp>
      </p:grpSp>
      <p:sp>
        <p:nvSpPr>
          <p:cNvPr id="39" name="TextBox 39"/>
          <p:cNvSpPr txBox="1"/>
          <p:nvPr/>
        </p:nvSpPr>
        <p:spPr>
          <a:xfrm>
            <a:off x="2295445" y="129533"/>
            <a:ext cx="5467510" cy="898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CARD 07</a:t>
            </a:r>
            <a:r>
              <a:rPr lang="en-US" sz="3000" b="1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- CYCLOHEXANONE</a:t>
            </a:r>
          </a:p>
          <a:p>
            <a:pPr algn="ctr">
              <a:lnSpc>
                <a:spcPts val="2800"/>
              </a:lnSpc>
            </a:pPr>
            <a:r>
              <a:rPr lang="en-US" sz="2000" u="sng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Molecular Formula:</a:t>
            </a:r>
            <a:r>
              <a:rPr lang="en-US" sz="2000" b="1" u="sng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C6H10O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164473" y="6628443"/>
            <a:ext cx="3729453" cy="382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b="1">
                <a:solidFill>
                  <a:srgbClr val="FFFFFF"/>
                </a:solidFill>
                <a:latin typeface="Radnika Next Bold"/>
                <a:ea typeface="Radnika Next Bold"/>
                <a:cs typeface="Radnika Next Bold"/>
                <a:sym typeface="Radnika Next Bold"/>
              </a:rPr>
              <a:t>- </a:t>
            </a:r>
            <a:r>
              <a:rPr lang="en-US" sz="2200" b="1" u="sng">
                <a:solidFill>
                  <a:srgbClr val="FFFFFF"/>
                </a:solidFill>
                <a:latin typeface="Radnika Next Bold"/>
                <a:ea typeface="Radnika Next Bold"/>
                <a:cs typeface="Radnika Next Bold"/>
                <a:sym typeface="Radnika Next Bold"/>
              </a:rPr>
              <a:t>VERIFICATION STRIP</a:t>
            </a:r>
            <a:r>
              <a:rPr lang="en-US" sz="2200" b="1">
                <a:solidFill>
                  <a:srgbClr val="FFFFFF"/>
                </a:solidFill>
                <a:latin typeface="Radnika Next Bold"/>
                <a:ea typeface="Radnika Next Bold"/>
                <a:cs typeface="Radnika Next Bold"/>
                <a:sym typeface="Radnika Next Bold"/>
              </a:rPr>
              <a:t> -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215251" y="1176611"/>
            <a:ext cx="2710647" cy="422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Knockout Welterweight Bold"/>
                <a:ea typeface="Knockout Welterweight Bold"/>
                <a:cs typeface="Knockout Welterweight Bold"/>
                <a:sym typeface="Knockout Welterweight Bold"/>
              </a:rPr>
              <a:t>MOLECULAR FORMULA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337665" y="1167086"/>
            <a:ext cx="2300321" cy="431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Knockout Welterweight Bold"/>
                <a:ea typeface="Knockout Welterweight Bold"/>
                <a:cs typeface="Knockout Welterweight Bold"/>
                <a:sym typeface="Knockout Welterweight Bold"/>
              </a:rPr>
              <a:t>LEWIS STRUCTURE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179949" y="3959967"/>
            <a:ext cx="2556107" cy="422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Knockout Welterweight Bold"/>
                <a:ea typeface="Knockout Welterweight Bold"/>
                <a:cs typeface="Knockout Welterweight Bold"/>
                <a:sym typeface="Knockout Welterweight Bold"/>
              </a:rPr>
              <a:t>BOND-LINE FORMULA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21851" y="3959967"/>
            <a:ext cx="4297447" cy="422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Knockout Welterweight Bold"/>
                <a:ea typeface="Knockout Welterweight Bold"/>
                <a:cs typeface="Knockout Welterweight Bold"/>
                <a:sym typeface="Knockout Welterweight Bold"/>
              </a:rPr>
              <a:t>CONDENSED STRUCTURAL FORMULA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57358" y="1942440"/>
            <a:ext cx="3826433" cy="1104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 C6H10O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19423" y="4866565"/>
            <a:ext cx="4099875" cy="828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45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(CH2)5C=O</a:t>
            </a:r>
          </a:p>
        </p:txBody>
      </p:sp>
      <p:grpSp>
        <p:nvGrpSpPr>
          <p:cNvPr id="47" name="Group 47"/>
          <p:cNvGrpSpPr/>
          <p:nvPr/>
        </p:nvGrpSpPr>
        <p:grpSpPr>
          <a:xfrm>
            <a:off x="6896227" y="4466515"/>
            <a:ext cx="1183196" cy="1960663"/>
            <a:chOff x="0" y="0"/>
            <a:chExt cx="1577595" cy="2614217"/>
          </a:xfrm>
        </p:grpSpPr>
        <p:sp>
          <p:nvSpPr>
            <p:cNvPr id="48" name="Freeform 48"/>
            <p:cNvSpPr/>
            <p:nvPr/>
          </p:nvSpPr>
          <p:spPr>
            <a:xfrm>
              <a:off x="0" y="16262"/>
              <a:ext cx="1577595" cy="2597955"/>
            </a:xfrm>
            <a:custGeom>
              <a:avLst/>
              <a:gdLst/>
              <a:ahLst/>
              <a:cxnLst/>
              <a:rect l="l" t="t" r="r" b="b"/>
              <a:pathLst>
                <a:path w="1577595" h="2597955">
                  <a:moveTo>
                    <a:pt x="0" y="0"/>
                  </a:moveTo>
                  <a:lnTo>
                    <a:pt x="1577595" y="0"/>
                  </a:lnTo>
                  <a:lnTo>
                    <a:pt x="1577595" y="2597955"/>
                  </a:lnTo>
                  <a:lnTo>
                    <a:pt x="0" y="25979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5691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49" name="Freeform 49"/>
            <p:cNvSpPr/>
            <p:nvPr/>
          </p:nvSpPr>
          <p:spPr>
            <a:xfrm>
              <a:off x="640760" y="0"/>
              <a:ext cx="299721" cy="295792"/>
            </a:xfrm>
            <a:custGeom>
              <a:avLst/>
              <a:gdLst/>
              <a:ahLst/>
              <a:cxnLst/>
              <a:rect l="l" t="t" r="r" b="b"/>
              <a:pathLst>
                <a:path w="299721" h="295792">
                  <a:moveTo>
                    <a:pt x="0" y="0"/>
                  </a:moveTo>
                  <a:lnTo>
                    <a:pt x="299720" y="0"/>
                  </a:lnTo>
                  <a:lnTo>
                    <a:pt x="299720" y="295792"/>
                  </a:lnTo>
                  <a:lnTo>
                    <a:pt x="0" y="2957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191111" r="-190685" b="-749708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3526" y="1104352"/>
            <a:ext cx="4734098" cy="2512715"/>
            <a:chOff x="0" y="0"/>
            <a:chExt cx="1650230" cy="8758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50230" cy="875892"/>
            </a:xfrm>
            <a:custGeom>
              <a:avLst/>
              <a:gdLst/>
              <a:ahLst/>
              <a:cxnLst/>
              <a:rect l="l" t="t" r="r" b="b"/>
              <a:pathLst>
                <a:path w="1650230" h="875892">
                  <a:moveTo>
                    <a:pt x="24530" y="0"/>
                  </a:moveTo>
                  <a:lnTo>
                    <a:pt x="1625700" y="0"/>
                  </a:lnTo>
                  <a:cubicBezTo>
                    <a:pt x="1632206" y="0"/>
                    <a:pt x="1638445" y="2584"/>
                    <a:pt x="1643045" y="7185"/>
                  </a:cubicBezTo>
                  <a:cubicBezTo>
                    <a:pt x="1647646" y="11785"/>
                    <a:pt x="1650230" y="18024"/>
                    <a:pt x="1650230" y="24530"/>
                  </a:cubicBezTo>
                  <a:lnTo>
                    <a:pt x="1650230" y="851362"/>
                  </a:lnTo>
                  <a:cubicBezTo>
                    <a:pt x="1650230" y="857868"/>
                    <a:pt x="1647646" y="864107"/>
                    <a:pt x="1643045" y="868707"/>
                  </a:cubicBezTo>
                  <a:cubicBezTo>
                    <a:pt x="1638445" y="873308"/>
                    <a:pt x="1632206" y="875892"/>
                    <a:pt x="1625700" y="875892"/>
                  </a:cubicBezTo>
                  <a:lnTo>
                    <a:pt x="24530" y="875892"/>
                  </a:lnTo>
                  <a:cubicBezTo>
                    <a:pt x="18024" y="875892"/>
                    <a:pt x="11785" y="873308"/>
                    <a:pt x="7185" y="868707"/>
                  </a:cubicBezTo>
                  <a:cubicBezTo>
                    <a:pt x="2584" y="864107"/>
                    <a:pt x="0" y="857868"/>
                    <a:pt x="0" y="851362"/>
                  </a:cubicBezTo>
                  <a:lnTo>
                    <a:pt x="0" y="24530"/>
                  </a:lnTo>
                  <a:cubicBezTo>
                    <a:pt x="0" y="18024"/>
                    <a:pt x="2584" y="11785"/>
                    <a:pt x="7185" y="7185"/>
                  </a:cubicBezTo>
                  <a:cubicBezTo>
                    <a:pt x="11785" y="2584"/>
                    <a:pt x="18024" y="0"/>
                    <a:pt x="24530" y="0"/>
                  </a:cubicBezTo>
                  <a:close/>
                </a:path>
              </a:pathLst>
            </a:custGeom>
            <a:solidFill>
              <a:srgbClr val="2A0DA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650230" cy="904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0086" y="6533193"/>
            <a:ext cx="9818228" cy="1124459"/>
            <a:chOff x="0" y="0"/>
            <a:chExt cx="3422476" cy="3919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422476" cy="391968"/>
            </a:xfrm>
            <a:custGeom>
              <a:avLst/>
              <a:gdLst/>
              <a:ahLst/>
              <a:cxnLst/>
              <a:rect l="l" t="t" r="r" b="b"/>
              <a:pathLst>
                <a:path w="3422476" h="391968">
                  <a:moveTo>
                    <a:pt x="0" y="0"/>
                  </a:moveTo>
                  <a:lnTo>
                    <a:pt x="3422476" y="0"/>
                  </a:lnTo>
                  <a:lnTo>
                    <a:pt x="3422476" y="391968"/>
                  </a:lnTo>
                  <a:lnTo>
                    <a:pt x="0" y="391968"/>
                  </a:lnTo>
                  <a:close/>
                </a:path>
              </a:pathLst>
            </a:custGeom>
            <a:solidFill>
              <a:srgbClr val="150068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3422476" cy="4205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03526" y="7137394"/>
            <a:ext cx="2304781" cy="321693"/>
            <a:chOff x="0" y="0"/>
            <a:chExt cx="3073041" cy="42892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28924" cy="428924"/>
            </a:xfrm>
            <a:custGeom>
              <a:avLst/>
              <a:gdLst/>
              <a:ahLst/>
              <a:cxnLst/>
              <a:rect l="l" t="t" r="r" b="b"/>
              <a:pathLst>
                <a:path w="428924" h="428924">
                  <a:moveTo>
                    <a:pt x="0" y="0"/>
                  </a:moveTo>
                  <a:lnTo>
                    <a:pt x="428924" y="0"/>
                  </a:lnTo>
                  <a:lnTo>
                    <a:pt x="428924" y="428924"/>
                  </a:lnTo>
                  <a:lnTo>
                    <a:pt x="0" y="428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428924" y="23952"/>
              <a:ext cx="2644117" cy="342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Radnika Next"/>
                  <a:ea typeface="Radnika Next"/>
                  <a:cs typeface="Radnika Next"/>
                  <a:sym typeface="Radnika Next"/>
                </a:rPr>
                <a:t>Atom Count Verified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768364" y="7138035"/>
            <a:ext cx="2000779" cy="321693"/>
            <a:chOff x="0" y="0"/>
            <a:chExt cx="2667705" cy="428924"/>
          </a:xfrm>
        </p:grpSpPr>
        <p:sp>
          <p:nvSpPr>
            <p:cNvPr id="12" name="TextBox 12"/>
            <p:cNvSpPr txBox="1"/>
            <p:nvPr/>
          </p:nvSpPr>
          <p:spPr>
            <a:xfrm>
              <a:off x="457418" y="23952"/>
              <a:ext cx="2210287" cy="342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Radnika Next"/>
                  <a:ea typeface="Radnika Next"/>
                  <a:cs typeface="Radnika Next"/>
                  <a:sym typeface="Radnika Next"/>
                </a:rPr>
                <a:t>Valence Checked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428924" cy="428924"/>
            </a:xfrm>
            <a:custGeom>
              <a:avLst/>
              <a:gdLst/>
              <a:ahLst/>
              <a:cxnLst/>
              <a:rect l="l" t="t" r="r" b="b"/>
              <a:pathLst>
                <a:path w="428924" h="428924">
                  <a:moveTo>
                    <a:pt x="0" y="0"/>
                  </a:moveTo>
                  <a:lnTo>
                    <a:pt x="428924" y="0"/>
                  </a:lnTo>
                  <a:lnTo>
                    <a:pt x="428924" y="428924"/>
                  </a:lnTo>
                  <a:lnTo>
                    <a:pt x="0" y="428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5090954" y="7138035"/>
            <a:ext cx="2379111" cy="321693"/>
            <a:chOff x="0" y="0"/>
            <a:chExt cx="3172148" cy="428924"/>
          </a:xfrm>
        </p:grpSpPr>
        <p:sp>
          <p:nvSpPr>
            <p:cNvPr id="15" name="TextBox 15"/>
            <p:cNvSpPr txBox="1"/>
            <p:nvPr/>
          </p:nvSpPr>
          <p:spPr>
            <a:xfrm>
              <a:off x="428924" y="23952"/>
              <a:ext cx="2743223" cy="342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Radnika Next"/>
                  <a:ea typeface="Radnika Next"/>
                  <a:cs typeface="Radnika Next"/>
                  <a:sym typeface="Radnika Next"/>
                </a:rPr>
                <a:t>Bond Order Checked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428924" cy="428924"/>
            </a:xfrm>
            <a:custGeom>
              <a:avLst/>
              <a:gdLst/>
              <a:ahLst/>
              <a:cxnLst/>
              <a:rect l="l" t="t" r="r" b="b"/>
              <a:pathLst>
                <a:path w="428924" h="428924">
                  <a:moveTo>
                    <a:pt x="0" y="0"/>
                  </a:moveTo>
                  <a:lnTo>
                    <a:pt x="428924" y="0"/>
                  </a:lnTo>
                  <a:lnTo>
                    <a:pt x="428924" y="428924"/>
                  </a:lnTo>
                  <a:lnTo>
                    <a:pt x="0" y="428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203526" y="3849747"/>
            <a:ext cx="4734098" cy="2512715"/>
            <a:chOff x="0" y="0"/>
            <a:chExt cx="1650230" cy="87589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50230" cy="875892"/>
            </a:xfrm>
            <a:custGeom>
              <a:avLst/>
              <a:gdLst/>
              <a:ahLst/>
              <a:cxnLst/>
              <a:rect l="l" t="t" r="r" b="b"/>
              <a:pathLst>
                <a:path w="1650230" h="875892">
                  <a:moveTo>
                    <a:pt x="24530" y="0"/>
                  </a:moveTo>
                  <a:lnTo>
                    <a:pt x="1625700" y="0"/>
                  </a:lnTo>
                  <a:cubicBezTo>
                    <a:pt x="1632206" y="0"/>
                    <a:pt x="1638445" y="2584"/>
                    <a:pt x="1643045" y="7185"/>
                  </a:cubicBezTo>
                  <a:cubicBezTo>
                    <a:pt x="1647646" y="11785"/>
                    <a:pt x="1650230" y="18024"/>
                    <a:pt x="1650230" y="24530"/>
                  </a:cubicBezTo>
                  <a:lnTo>
                    <a:pt x="1650230" y="851362"/>
                  </a:lnTo>
                  <a:cubicBezTo>
                    <a:pt x="1650230" y="857868"/>
                    <a:pt x="1647646" y="864107"/>
                    <a:pt x="1643045" y="868707"/>
                  </a:cubicBezTo>
                  <a:cubicBezTo>
                    <a:pt x="1638445" y="873308"/>
                    <a:pt x="1632206" y="875892"/>
                    <a:pt x="1625700" y="875892"/>
                  </a:cubicBezTo>
                  <a:lnTo>
                    <a:pt x="24530" y="875892"/>
                  </a:lnTo>
                  <a:cubicBezTo>
                    <a:pt x="18024" y="875892"/>
                    <a:pt x="11785" y="873308"/>
                    <a:pt x="7185" y="868707"/>
                  </a:cubicBezTo>
                  <a:cubicBezTo>
                    <a:pt x="2584" y="864107"/>
                    <a:pt x="0" y="857868"/>
                    <a:pt x="0" y="851362"/>
                  </a:cubicBezTo>
                  <a:lnTo>
                    <a:pt x="0" y="24530"/>
                  </a:lnTo>
                  <a:cubicBezTo>
                    <a:pt x="0" y="18024"/>
                    <a:pt x="2584" y="11785"/>
                    <a:pt x="7185" y="7185"/>
                  </a:cubicBezTo>
                  <a:cubicBezTo>
                    <a:pt x="11785" y="2584"/>
                    <a:pt x="18024" y="0"/>
                    <a:pt x="24530" y="0"/>
                  </a:cubicBezTo>
                  <a:close/>
                </a:path>
              </a:pathLst>
            </a:custGeom>
            <a:solidFill>
              <a:srgbClr val="2A0DA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1650230" cy="904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120777" y="1104352"/>
            <a:ext cx="4734098" cy="2512715"/>
            <a:chOff x="0" y="0"/>
            <a:chExt cx="1650230" cy="87589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650230" cy="875892"/>
            </a:xfrm>
            <a:custGeom>
              <a:avLst/>
              <a:gdLst/>
              <a:ahLst/>
              <a:cxnLst/>
              <a:rect l="l" t="t" r="r" b="b"/>
              <a:pathLst>
                <a:path w="1650230" h="875892">
                  <a:moveTo>
                    <a:pt x="24530" y="0"/>
                  </a:moveTo>
                  <a:lnTo>
                    <a:pt x="1625700" y="0"/>
                  </a:lnTo>
                  <a:cubicBezTo>
                    <a:pt x="1632206" y="0"/>
                    <a:pt x="1638445" y="2584"/>
                    <a:pt x="1643045" y="7185"/>
                  </a:cubicBezTo>
                  <a:cubicBezTo>
                    <a:pt x="1647646" y="11785"/>
                    <a:pt x="1650230" y="18024"/>
                    <a:pt x="1650230" y="24530"/>
                  </a:cubicBezTo>
                  <a:lnTo>
                    <a:pt x="1650230" y="851362"/>
                  </a:lnTo>
                  <a:cubicBezTo>
                    <a:pt x="1650230" y="857868"/>
                    <a:pt x="1647646" y="864107"/>
                    <a:pt x="1643045" y="868707"/>
                  </a:cubicBezTo>
                  <a:cubicBezTo>
                    <a:pt x="1638445" y="873308"/>
                    <a:pt x="1632206" y="875892"/>
                    <a:pt x="1625700" y="875892"/>
                  </a:cubicBezTo>
                  <a:lnTo>
                    <a:pt x="24530" y="875892"/>
                  </a:lnTo>
                  <a:cubicBezTo>
                    <a:pt x="18024" y="875892"/>
                    <a:pt x="11785" y="873308"/>
                    <a:pt x="7185" y="868707"/>
                  </a:cubicBezTo>
                  <a:cubicBezTo>
                    <a:pt x="2584" y="864107"/>
                    <a:pt x="0" y="857868"/>
                    <a:pt x="0" y="851362"/>
                  </a:cubicBezTo>
                  <a:lnTo>
                    <a:pt x="0" y="24530"/>
                  </a:lnTo>
                  <a:cubicBezTo>
                    <a:pt x="0" y="18024"/>
                    <a:pt x="2584" y="11785"/>
                    <a:pt x="7185" y="7185"/>
                  </a:cubicBezTo>
                  <a:cubicBezTo>
                    <a:pt x="11785" y="2584"/>
                    <a:pt x="18024" y="0"/>
                    <a:pt x="24530" y="0"/>
                  </a:cubicBezTo>
                  <a:close/>
                </a:path>
              </a:pathLst>
            </a:custGeom>
            <a:solidFill>
              <a:srgbClr val="2A0DA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1650230" cy="904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090954" y="3868078"/>
            <a:ext cx="4734098" cy="2512715"/>
            <a:chOff x="0" y="0"/>
            <a:chExt cx="1650230" cy="87589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650230" cy="875892"/>
            </a:xfrm>
            <a:custGeom>
              <a:avLst/>
              <a:gdLst/>
              <a:ahLst/>
              <a:cxnLst/>
              <a:rect l="l" t="t" r="r" b="b"/>
              <a:pathLst>
                <a:path w="1650230" h="875892">
                  <a:moveTo>
                    <a:pt x="24530" y="0"/>
                  </a:moveTo>
                  <a:lnTo>
                    <a:pt x="1625700" y="0"/>
                  </a:lnTo>
                  <a:cubicBezTo>
                    <a:pt x="1632206" y="0"/>
                    <a:pt x="1638445" y="2584"/>
                    <a:pt x="1643045" y="7185"/>
                  </a:cubicBezTo>
                  <a:cubicBezTo>
                    <a:pt x="1647646" y="11785"/>
                    <a:pt x="1650230" y="18024"/>
                    <a:pt x="1650230" y="24530"/>
                  </a:cubicBezTo>
                  <a:lnTo>
                    <a:pt x="1650230" y="851362"/>
                  </a:lnTo>
                  <a:cubicBezTo>
                    <a:pt x="1650230" y="857868"/>
                    <a:pt x="1647646" y="864107"/>
                    <a:pt x="1643045" y="868707"/>
                  </a:cubicBezTo>
                  <a:cubicBezTo>
                    <a:pt x="1638445" y="873308"/>
                    <a:pt x="1632206" y="875892"/>
                    <a:pt x="1625700" y="875892"/>
                  </a:cubicBezTo>
                  <a:lnTo>
                    <a:pt x="24530" y="875892"/>
                  </a:lnTo>
                  <a:cubicBezTo>
                    <a:pt x="18024" y="875892"/>
                    <a:pt x="11785" y="873308"/>
                    <a:pt x="7185" y="868707"/>
                  </a:cubicBezTo>
                  <a:cubicBezTo>
                    <a:pt x="2584" y="864107"/>
                    <a:pt x="0" y="857868"/>
                    <a:pt x="0" y="851362"/>
                  </a:cubicBezTo>
                  <a:lnTo>
                    <a:pt x="0" y="24530"/>
                  </a:lnTo>
                  <a:cubicBezTo>
                    <a:pt x="0" y="18024"/>
                    <a:pt x="2584" y="11785"/>
                    <a:pt x="7185" y="7185"/>
                  </a:cubicBezTo>
                  <a:cubicBezTo>
                    <a:pt x="11785" y="2584"/>
                    <a:pt x="18024" y="0"/>
                    <a:pt x="24530" y="0"/>
                  </a:cubicBezTo>
                  <a:close/>
                </a:path>
              </a:pathLst>
            </a:custGeom>
            <a:solidFill>
              <a:srgbClr val="2A0DA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1650230" cy="904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AutoShape 26"/>
          <p:cNvSpPr/>
          <p:nvPr/>
        </p:nvSpPr>
        <p:spPr>
          <a:xfrm>
            <a:off x="310661" y="1684898"/>
            <a:ext cx="4499464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AutoShape 27"/>
          <p:cNvSpPr/>
          <p:nvPr/>
        </p:nvSpPr>
        <p:spPr>
          <a:xfrm>
            <a:off x="5227223" y="1703948"/>
            <a:ext cx="4499464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AutoShape 28"/>
          <p:cNvSpPr/>
          <p:nvPr/>
        </p:nvSpPr>
        <p:spPr>
          <a:xfrm>
            <a:off x="345191" y="4466515"/>
            <a:ext cx="4499464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" name="AutoShape 29"/>
          <p:cNvSpPr/>
          <p:nvPr/>
        </p:nvSpPr>
        <p:spPr>
          <a:xfrm>
            <a:off x="5208271" y="4478712"/>
            <a:ext cx="4499464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0" name="Group 30"/>
          <p:cNvGrpSpPr/>
          <p:nvPr/>
        </p:nvGrpSpPr>
        <p:grpSpPr>
          <a:xfrm>
            <a:off x="7727240" y="7138035"/>
            <a:ext cx="2147247" cy="321693"/>
            <a:chOff x="0" y="0"/>
            <a:chExt cx="2862995" cy="428924"/>
          </a:xfrm>
        </p:grpSpPr>
        <p:sp>
          <p:nvSpPr>
            <p:cNvPr id="31" name="TextBox 31"/>
            <p:cNvSpPr txBox="1"/>
            <p:nvPr/>
          </p:nvSpPr>
          <p:spPr>
            <a:xfrm>
              <a:off x="428924" y="23952"/>
              <a:ext cx="2434071" cy="342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Radnika Next"/>
                  <a:ea typeface="Radnika Next"/>
                  <a:cs typeface="Radnika Next"/>
                  <a:sym typeface="Radnika Next"/>
                </a:rPr>
                <a:t>Same Connectivity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0" y="0"/>
              <a:ext cx="428924" cy="428924"/>
            </a:xfrm>
            <a:custGeom>
              <a:avLst/>
              <a:gdLst/>
              <a:ahLst/>
              <a:cxnLst/>
              <a:rect l="l" t="t" r="r" b="b"/>
              <a:pathLst>
                <a:path w="428924" h="428924">
                  <a:moveTo>
                    <a:pt x="0" y="0"/>
                  </a:moveTo>
                  <a:lnTo>
                    <a:pt x="428924" y="0"/>
                  </a:lnTo>
                  <a:lnTo>
                    <a:pt x="428924" y="428924"/>
                  </a:lnTo>
                  <a:lnTo>
                    <a:pt x="0" y="428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33" name="Group 33"/>
          <p:cNvGrpSpPr/>
          <p:nvPr/>
        </p:nvGrpSpPr>
        <p:grpSpPr>
          <a:xfrm>
            <a:off x="631946" y="154558"/>
            <a:ext cx="8794507" cy="559269"/>
            <a:chOff x="0" y="0"/>
            <a:chExt cx="3065624" cy="19495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065624" cy="194952"/>
            </a:xfrm>
            <a:custGeom>
              <a:avLst/>
              <a:gdLst/>
              <a:ahLst/>
              <a:cxnLst/>
              <a:rect l="l" t="t" r="r" b="b"/>
              <a:pathLst>
                <a:path w="3065624" h="194952">
                  <a:moveTo>
                    <a:pt x="26409" y="0"/>
                  </a:moveTo>
                  <a:lnTo>
                    <a:pt x="3039214" y="0"/>
                  </a:lnTo>
                  <a:cubicBezTo>
                    <a:pt x="3053800" y="0"/>
                    <a:pt x="3065624" y="11824"/>
                    <a:pt x="3065624" y="26409"/>
                  </a:cubicBezTo>
                  <a:lnTo>
                    <a:pt x="3065624" y="168543"/>
                  </a:lnTo>
                  <a:cubicBezTo>
                    <a:pt x="3065624" y="175547"/>
                    <a:pt x="3062841" y="182264"/>
                    <a:pt x="3057888" y="187217"/>
                  </a:cubicBezTo>
                  <a:cubicBezTo>
                    <a:pt x="3052936" y="192170"/>
                    <a:pt x="3046218" y="194952"/>
                    <a:pt x="3039214" y="194952"/>
                  </a:cubicBezTo>
                  <a:lnTo>
                    <a:pt x="26409" y="194952"/>
                  </a:lnTo>
                  <a:cubicBezTo>
                    <a:pt x="19405" y="194952"/>
                    <a:pt x="12688" y="192170"/>
                    <a:pt x="7735" y="187217"/>
                  </a:cubicBezTo>
                  <a:cubicBezTo>
                    <a:pt x="2782" y="182264"/>
                    <a:pt x="0" y="175547"/>
                    <a:pt x="0" y="168543"/>
                  </a:cubicBezTo>
                  <a:lnTo>
                    <a:pt x="0" y="26409"/>
                  </a:lnTo>
                  <a:cubicBezTo>
                    <a:pt x="0" y="19405"/>
                    <a:pt x="2782" y="12688"/>
                    <a:pt x="7735" y="7735"/>
                  </a:cubicBezTo>
                  <a:cubicBezTo>
                    <a:pt x="12688" y="2782"/>
                    <a:pt x="19405" y="0"/>
                    <a:pt x="26409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0" y="-28575"/>
              <a:ext cx="3065624" cy="2235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861390" y="1696338"/>
            <a:ext cx="3217349" cy="1895515"/>
            <a:chOff x="0" y="0"/>
            <a:chExt cx="4289799" cy="2527353"/>
          </a:xfrm>
        </p:grpSpPr>
        <p:sp>
          <p:nvSpPr>
            <p:cNvPr id="37" name="Freeform 37"/>
            <p:cNvSpPr/>
            <p:nvPr/>
          </p:nvSpPr>
          <p:spPr>
            <a:xfrm>
              <a:off x="0" y="10147"/>
              <a:ext cx="4289799" cy="2517206"/>
            </a:xfrm>
            <a:custGeom>
              <a:avLst/>
              <a:gdLst/>
              <a:ahLst/>
              <a:cxnLst/>
              <a:rect l="l" t="t" r="r" b="b"/>
              <a:pathLst>
                <a:path w="4289799" h="2517206">
                  <a:moveTo>
                    <a:pt x="0" y="0"/>
                  </a:moveTo>
                  <a:lnTo>
                    <a:pt x="4289799" y="0"/>
                  </a:lnTo>
                  <a:lnTo>
                    <a:pt x="4289799" y="2517206"/>
                  </a:lnTo>
                  <a:lnTo>
                    <a:pt x="0" y="25172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882" t="-41220" b="-39223"/>
              </a:stretch>
            </a:blipFill>
          </p:spPr>
        </p:sp>
        <p:sp>
          <p:nvSpPr>
            <p:cNvPr id="38" name="Freeform 38"/>
            <p:cNvSpPr/>
            <p:nvPr/>
          </p:nvSpPr>
          <p:spPr>
            <a:xfrm rot="98688">
              <a:off x="1653849" y="-3731"/>
              <a:ext cx="338507" cy="403722"/>
            </a:xfrm>
            <a:custGeom>
              <a:avLst/>
              <a:gdLst/>
              <a:ahLst/>
              <a:cxnLst/>
              <a:rect l="l" t="t" r="r" b="b"/>
              <a:pathLst>
                <a:path w="338507" h="403722">
                  <a:moveTo>
                    <a:pt x="0" y="33765"/>
                  </a:moveTo>
                  <a:lnTo>
                    <a:pt x="296356" y="0"/>
                  </a:lnTo>
                  <a:lnTo>
                    <a:pt x="338507" y="369956"/>
                  </a:lnTo>
                  <a:lnTo>
                    <a:pt x="42151" y="403721"/>
                  </a:lnTo>
                  <a:lnTo>
                    <a:pt x="0" y="33765"/>
                  </a:lnTo>
                  <a:close/>
                </a:path>
              </a:pathLst>
            </a:custGeom>
            <a:blipFill>
              <a:blip r:embed="rId4"/>
              <a:stretch>
                <a:fillRect l="-510039" t="-211269" r="-624784" b="-724087"/>
              </a:stretch>
            </a:blipFill>
          </p:spPr>
        </p:sp>
        <p:sp>
          <p:nvSpPr>
            <p:cNvPr id="39" name="Freeform 39"/>
            <p:cNvSpPr/>
            <p:nvPr/>
          </p:nvSpPr>
          <p:spPr>
            <a:xfrm>
              <a:off x="3321555" y="1865691"/>
              <a:ext cx="422377" cy="254450"/>
            </a:xfrm>
            <a:custGeom>
              <a:avLst/>
              <a:gdLst/>
              <a:ahLst/>
              <a:cxnLst/>
              <a:rect l="l" t="t" r="r" b="b"/>
              <a:pathLst>
                <a:path w="422377" h="254450">
                  <a:moveTo>
                    <a:pt x="0" y="0"/>
                  </a:moveTo>
                  <a:lnTo>
                    <a:pt x="422377" y="0"/>
                  </a:lnTo>
                  <a:lnTo>
                    <a:pt x="422377" y="254450"/>
                  </a:lnTo>
                  <a:lnTo>
                    <a:pt x="0" y="254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35314" t="-1107442" r="-95352" b="-503424"/>
              </a:stretch>
            </a:blipFill>
          </p:spPr>
        </p:sp>
        <p:sp>
          <p:nvSpPr>
            <p:cNvPr id="40" name="Freeform 40"/>
            <p:cNvSpPr/>
            <p:nvPr/>
          </p:nvSpPr>
          <p:spPr>
            <a:xfrm>
              <a:off x="1674421" y="566699"/>
              <a:ext cx="186020" cy="319130"/>
            </a:xfrm>
            <a:custGeom>
              <a:avLst/>
              <a:gdLst/>
              <a:ahLst/>
              <a:cxnLst/>
              <a:rect l="l" t="t" r="r" b="b"/>
              <a:pathLst>
                <a:path w="186020" h="319130">
                  <a:moveTo>
                    <a:pt x="0" y="0"/>
                  </a:moveTo>
                  <a:lnTo>
                    <a:pt x="186020" y="0"/>
                  </a:lnTo>
                  <a:lnTo>
                    <a:pt x="186020" y="319130"/>
                  </a:lnTo>
                  <a:lnTo>
                    <a:pt x="0" y="3191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025833" t="-485155" r="-1315916" b="-838134"/>
              </a:stretch>
            </a:blipFill>
          </p:spPr>
        </p:sp>
      </p:grpSp>
      <p:sp>
        <p:nvSpPr>
          <p:cNvPr id="41" name="TextBox 41"/>
          <p:cNvSpPr txBox="1"/>
          <p:nvPr/>
        </p:nvSpPr>
        <p:spPr>
          <a:xfrm>
            <a:off x="797676" y="129533"/>
            <a:ext cx="8463049" cy="898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CARD 08 </a:t>
            </a:r>
            <a:r>
              <a:rPr lang="en-US" sz="3000" b="1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- ACETAMINOPHEN (paracetamol)</a:t>
            </a:r>
          </a:p>
          <a:p>
            <a:pPr algn="ctr">
              <a:lnSpc>
                <a:spcPts val="2800"/>
              </a:lnSpc>
            </a:pPr>
            <a:r>
              <a:rPr lang="en-US" sz="2000" u="sng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Molecular Formula:</a:t>
            </a:r>
            <a:r>
              <a:rPr lang="en-US" sz="2000" b="1" u="sng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C8H9N02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164473" y="6628443"/>
            <a:ext cx="3729453" cy="382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b="1">
                <a:solidFill>
                  <a:srgbClr val="FFFFFF"/>
                </a:solidFill>
                <a:latin typeface="Radnika Next Bold"/>
                <a:ea typeface="Radnika Next Bold"/>
                <a:cs typeface="Radnika Next Bold"/>
                <a:sym typeface="Radnika Next Bold"/>
              </a:rPr>
              <a:t>- </a:t>
            </a:r>
            <a:r>
              <a:rPr lang="en-US" sz="2200" b="1" u="sng">
                <a:solidFill>
                  <a:srgbClr val="FFFFFF"/>
                </a:solidFill>
                <a:latin typeface="Radnika Next Bold"/>
                <a:ea typeface="Radnika Next Bold"/>
                <a:cs typeface="Radnika Next Bold"/>
                <a:sym typeface="Radnika Next Bold"/>
              </a:rPr>
              <a:t>VERIFICATION STRIP</a:t>
            </a:r>
            <a:r>
              <a:rPr lang="en-US" sz="2200" b="1">
                <a:solidFill>
                  <a:srgbClr val="FFFFFF"/>
                </a:solidFill>
                <a:latin typeface="Radnika Next Bold"/>
                <a:ea typeface="Radnika Next Bold"/>
                <a:cs typeface="Radnika Next Bold"/>
                <a:sym typeface="Radnika Next Bold"/>
              </a:rPr>
              <a:t> -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215251" y="1176611"/>
            <a:ext cx="2710647" cy="422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Knockout Welterweight Bold"/>
                <a:ea typeface="Knockout Welterweight Bold"/>
                <a:cs typeface="Knockout Welterweight Bold"/>
                <a:sym typeface="Knockout Welterweight Bold"/>
              </a:rPr>
              <a:t>MOLECULAR FORMULA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337665" y="1167086"/>
            <a:ext cx="2300321" cy="431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Knockout Welterweight Bold"/>
                <a:ea typeface="Knockout Welterweight Bold"/>
                <a:cs typeface="Knockout Welterweight Bold"/>
                <a:sym typeface="Knockout Welterweight Bold"/>
              </a:rPr>
              <a:t>LEWIS STRUCTURE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179949" y="3959967"/>
            <a:ext cx="2556107" cy="422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Knockout Welterweight Bold"/>
                <a:ea typeface="Knockout Welterweight Bold"/>
                <a:cs typeface="Knockout Welterweight Bold"/>
                <a:sym typeface="Knockout Welterweight Bold"/>
              </a:rPr>
              <a:t>BOND-LINE FORMULA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21851" y="3959967"/>
            <a:ext cx="4297447" cy="422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Knockout Welterweight Bold"/>
                <a:ea typeface="Knockout Welterweight Bold"/>
                <a:cs typeface="Knockout Welterweight Bold"/>
                <a:sym typeface="Knockout Welterweight Bold"/>
              </a:rPr>
              <a:t>CONDENSED STRUCTURAL FORMULA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78871" y="2037323"/>
            <a:ext cx="4290272" cy="909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00"/>
              </a:lnSpc>
            </a:pPr>
            <a:r>
              <a:rPr lang="en-US" sz="4400" dirty="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C8H9NO2</a:t>
            </a:r>
            <a:endParaRPr lang="en-US" sz="5500" dirty="0">
              <a:solidFill>
                <a:srgbClr val="FFFFFF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212096" y="5030972"/>
            <a:ext cx="4644844" cy="841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3200" dirty="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CH3CONH</a:t>
            </a:r>
          </a:p>
          <a:p>
            <a:pPr algn="ctr">
              <a:lnSpc>
                <a:spcPts val="3220"/>
              </a:lnSpc>
            </a:pPr>
            <a:r>
              <a:rPr lang="en-US" sz="3200" dirty="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(1,4-C6H4)OH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6093574" y="4382221"/>
            <a:ext cx="2788503" cy="1980241"/>
            <a:chOff x="0" y="0"/>
            <a:chExt cx="3718004" cy="2640322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3718004" cy="2640322"/>
            </a:xfrm>
            <a:custGeom>
              <a:avLst/>
              <a:gdLst/>
              <a:ahLst/>
              <a:cxnLst/>
              <a:rect l="l" t="t" r="r" b="b"/>
              <a:pathLst>
                <a:path w="3718004" h="2640322">
                  <a:moveTo>
                    <a:pt x="0" y="0"/>
                  </a:moveTo>
                  <a:lnTo>
                    <a:pt x="3718004" y="0"/>
                  </a:lnTo>
                  <a:lnTo>
                    <a:pt x="3718004" y="2640322"/>
                  </a:lnTo>
                  <a:lnTo>
                    <a:pt x="0" y="26403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51" name="Freeform 51"/>
            <p:cNvSpPr/>
            <p:nvPr/>
          </p:nvSpPr>
          <p:spPr>
            <a:xfrm>
              <a:off x="1203354" y="109791"/>
              <a:ext cx="301716" cy="263766"/>
            </a:xfrm>
            <a:custGeom>
              <a:avLst/>
              <a:gdLst/>
              <a:ahLst/>
              <a:cxnLst/>
              <a:rect l="l" t="t" r="r" b="b"/>
              <a:pathLst>
                <a:path w="301716" h="263766">
                  <a:moveTo>
                    <a:pt x="0" y="0"/>
                  </a:moveTo>
                  <a:lnTo>
                    <a:pt x="301716" y="0"/>
                  </a:lnTo>
                  <a:lnTo>
                    <a:pt x="301716" y="263766"/>
                  </a:lnTo>
                  <a:lnTo>
                    <a:pt x="0" y="2637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351713" r="-690392" b="-827755"/>
              </a:stretch>
            </a:blipFill>
          </p:spPr>
        </p:sp>
        <p:sp>
          <p:nvSpPr>
            <p:cNvPr id="52" name="Freeform 52"/>
            <p:cNvSpPr/>
            <p:nvPr/>
          </p:nvSpPr>
          <p:spPr>
            <a:xfrm>
              <a:off x="3171029" y="2084653"/>
              <a:ext cx="398180" cy="453811"/>
            </a:xfrm>
            <a:custGeom>
              <a:avLst/>
              <a:gdLst/>
              <a:ahLst/>
              <a:cxnLst/>
              <a:rect l="l" t="t" r="r" b="b"/>
              <a:pathLst>
                <a:path w="398180" h="453811">
                  <a:moveTo>
                    <a:pt x="0" y="0"/>
                  </a:moveTo>
                  <a:lnTo>
                    <a:pt x="398180" y="0"/>
                  </a:lnTo>
                  <a:lnTo>
                    <a:pt x="398180" y="453811"/>
                  </a:lnTo>
                  <a:lnTo>
                    <a:pt x="0" y="4538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-766786" t="-440087"/>
              </a:stretch>
            </a:blipFill>
          </p:spPr>
        </p:sp>
        <p:sp>
          <p:nvSpPr>
            <p:cNvPr id="53" name="Freeform 53"/>
            <p:cNvSpPr/>
            <p:nvPr/>
          </p:nvSpPr>
          <p:spPr>
            <a:xfrm>
              <a:off x="624038" y="1166164"/>
              <a:ext cx="344502" cy="285864"/>
            </a:xfrm>
            <a:custGeom>
              <a:avLst/>
              <a:gdLst/>
              <a:ahLst/>
              <a:cxnLst/>
              <a:rect l="l" t="t" r="r" b="b"/>
              <a:pathLst>
                <a:path w="344502" h="285864">
                  <a:moveTo>
                    <a:pt x="0" y="0"/>
                  </a:moveTo>
                  <a:lnTo>
                    <a:pt x="344502" y="0"/>
                  </a:lnTo>
                  <a:lnTo>
                    <a:pt x="344502" y="285864"/>
                  </a:lnTo>
                  <a:lnTo>
                    <a:pt x="0" y="2858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32496" t="-361759" r="-737581" b="-368447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3526" y="1104352"/>
            <a:ext cx="4734098" cy="2512715"/>
            <a:chOff x="0" y="0"/>
            <a:chExt cx="1650230" cy="8758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50230" cy="875892"/>
            </a:xfrm>
            <a:custGeom>
              <a:avLst/>
              <a:gdLst/>
              <a:ahLst/>
              <a:cxnLst/>
              <a:rect l="l" t="t" r="r" b="b"/>
              <a:pathLst>
                <a:path w="1650230" h="875892">
                  <a:moveTo>
                    <a:pt x="24530" y="0"/>
                  </a:moveTo>
                  <a:lnTo>
                    <a:pt x="1625700" y="0"/>
                  </a:lnTo>
                  <a:cubicBezTo>
                    <a:pt x="1632206" y="0"/>
                    <a:pt x="1638445" y="2584"/>
                    <a:pt x="1643045" y="7185"/>
                  </a:cubicBezTo>
                  <a:cubicBezTo>
                    <a:pt x="1647646" y="11785"/>
                    <a:pt x="1650230" y="18024"/>
                    <a:pt x="1650230" y="24530"/>
                  </a:cubicBezTo>
                  <a:lnTo>
                    <a:pt x="1650230" y="851362"/>
                  </a:lnTo>
                  <a:cubicBezTo>
                    <a:pt x="1650230" y="857868"/>
                    <a:pt x="1647646" y="864107"/>
                    <a:pt x="1643045" y="868707"/>
                  </a:cubicBezTo>
                  <a:cubicBezTo>
                    <a:pt x="1638445" y="873308"/>
                    <a:pt x="1632206" y="875892"/>
                    <a:pt x="1625700" y="875892"/>
                  </a:cubicBezTo>
                  <a:lnTo>
                    <a:pt x="24530" y="875892"/>
                  </a:lnTo>
                  <a:cubicBezTo>
                    <a:pt x="18024" y="875892"/>
                    <a:pt x="11785" y="873308"/>
                    <a:pt x="7185" y="868707"/>
                  </a:cubicBezTo>
                  <a:cubicBezTo>
                    <a:pt x="2584" y="864107"/>
                    <a:pt x="0" y="857868"/>
                    <a:pt x="0" y="851362"/>
                  </a:cubicBezTo>
                  <a:lnTo>
                    <a:pt x="0" y="24530"/>
                  </a:lnTo>
                  <a:cubicBezTo>
                    <a:pt x="0" y="18024"/>
                    <a:pt x="2584" y="11785"/>
                    <a:pt x="7185" y="7185"/>
                  </a:cubicBezTo>
                  <a:cubicBezTo>
                    <a:pt x="11785" y="2584"/>
                    <a:pt x="18024" y="0"/>
                    <a:pt x="24530" y="0"/>
                  </a:cubicBezTo>
                  <a:close/>
                </a:path>
              </a:pathLst>
            </a:custGeom>
            <a:solidFill>
              <a:srgbClr val="2A0DA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650230" cy="904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0086" y="6533193"/>
            <a:ext cx="9818228" cy="1124459"/>
            <a:chOff x="0" y="0"/>
            <a:chExt cx="3422476" cy="3919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422476" cy="391968"/>
            </a:xfrm>
            <a:custGeom>
              <a:avLst/>
              <a:gdLst/>
              <a:ahLst/>
              <a:cxnLst/>
              <a:rect l="l" t="t" r="r" b="b"/>
              <a:pathLst>
                <a:path w="3422476" h="391968">
                  <a:moveTo>
                    <a:pt x="0" y="0"/>
                  </a:moveTo>
                  <a:lnTo>
                    <a:pt x="3422476" y="0"/>
                  </a:lnTo>
                  <a:lnTo>
                    <a:pt x="3422476" y="391968"/>
                  </a:lnTo>
                  <a:lnTo>
                    <a:pt x="0" y="391968"/>
                  </a:lnTo>
                  <a:close/>
                </a:path>
              </a:pathLst>
            </a:custGeom>
            <a:solidFill>
              <a:srgbClr val="150068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3422476" cy="4205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03526" y="7137394"/>
            <a:ext cx="2304781" cy="321693"/>
            <a:chOff x="0" y="0"/>
            <a:chExt cx="3073041" cy="42892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28924" cy="428924"/>
            </a:xfrm>
            <a:custGeom>
              <a:avLst/>
              <a:gdLst/>
              <a:ahLst/>
              <a:cxnLst/>
              <a:rect l="l" t="t" r="r" b="b"/>
              <a:pathLst>
                <a:path w="428924" h="428924">
                  <a:moveTo>
                    <a:pt x="0" y="0"/>
                  </a:moveTo>
                  <a:lnTo>
                    <a:pt x="428924" y="0"/>
                  </a:lnTo>
                  <a:lnTo>
                    <a:pt x="428924" y="428924"/>
                  </a:lnTo>
                  <a:lnTo>
                    <a:pt x="0" y="428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428924" y="23952"/>
              <a:ext cx="2644117" cy="342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Radnika Next"/>
                  <a:ea typeface="Radnika Next"/>
                  <a:cs typeface="Radnika Next"/>
                  <a:sym typeface="Radnika Next"/>
                </a:rPr>
                <a:t>Atom Count Verified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768364" y="7138035"/>
            <a:ext cx="2000779" cy="321693"/>
            <a:chOff x="0" y="0"/>
            <a:chExt cx="2667705" cy="428924"/>
          </a:xfrm>
        </p:grpSpPr>
        <p:sp>
          <p:nvSpPr>
            <p:cNvPr id="12" name="TextBox 12"/>
            <p:cNvSpPr txBox="1"/>
            <p:nvPr/>
          </p:nvSpPr>
          <p:spPr>
            <a:xfrm>
              <a:off x="457418" y="23952"/>
              <a:ext cx="2210287" cy="342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Radnika Next"/>
                  <a:ea typeface="Radnika Next"/>
                  <a:cs typeface="Radnika Next"/>
                  <a:sym typeface="Radnika Next"/>
                </a:rPr>
                <a:t>Valence Checked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428924" cy="428924"/>
            </a:xfrm>
            <a:custGeom>
              <a:avLst/>
              <a:gdLst/>
              <a:ahLst/>
              <a:cxnLst/>
              <a:rect l="l" t="t" r="r" b="b"/>
              <a:pathLst>
                <a:path w="428924" h="428924">
                  <a:moveTo>
                    <a:pt x="0" y="0"/>
                  </a:moveTo>
                  <a:lnTo>
                    <a:pt x="428924" y="0"/>
                  </a:lnTo>
                  <a:lnTo>
                    <a:pt x="428924" y="428924"/>
                  </a:lnTo>
                  <a:lnTo>
                    <a:pt x="0" y="428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5090954" y="7138035"/>
            <a:ext cx="2379111" cy="321693"/>
            <a:chOff x="0" y="0"/>
            <a:chExt cx="3172148" cy="428924"/>
          </a:xfrm>
        </p:grpSpPr>
        <p:sp>
          <p:nvSpPr>
            <p:cNvPr id="15" name="TextBox 15"/>
            <p:cNvSpPr txBox="1"/>
            <p:nvPr/>
          </p:nvSpPr>
          <p:spPr>
            <a:xfrm>
              <a:off x="428924" y="23952"/>
              <a:ext cx="2743223" cy="342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Radnika Next"/>
                  <a:ea typeface="Radnika Next"/>
                  <a:cs typeface="Radnika Next"/>
                  <a:sym typeface="Radnika Next"/>
                </a:rPr>
                <a:t>Bond Order Checked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428924" cy="428924"/>
            </a:xfrm>
            <a:custGeom>
              <a:avLst/>
              <a:gdLst/>
              <a:ahLst/>
              <a:cxnLst/>
              <a:rect l="l" t="t" r="r" b="b"/>
              <a:pathLst>
                <a:path w="428924" h="428924">
                  <a:moveTo>
                    <a:pt x="0" y="0"/>
                  </a:moveTo>
                  <a:lnTo>
                    <a:pt x="428924" y="0"/>
                  </a:lnTo>
                  <a:lnTo>
                    <a:pt x="428924" y="428924"/>
                  </a:lnTo>
                  <a:lnTo>
                    <a:pt x="0" y="428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203526" y="3849747"/>
            <a:ext cx="4734098" cy="2512715"/>
            <a:chOff x="0" y="0"/>
            <a:chExt cx="1650230" cy="87589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50230" cy="875892"/>
            </a:xfrm>
            <a:custGeom>
              <a:avLst/>
              <a:gdLst/>
              <a:ahLst/>
              <a:cxnLst/>
              <a:rect l="l" t="t" r="r" b="b"/>
              <a:pathLst>
                <a:path w="1650230" h="875892">
                  <a:moveTo>
                    <a:pt x="24530" y="0"/>
                  </a:moveTo>
                  <a:lnTo>
                    <a:pt x="1625700" y="0"/>
                  </a:lnTo>
                  <a:cubicBezTo>
                    <a:pt x="1632206" y="0"/>
                    <a:pt x="1638445" y="2584"/>
                    <a:pt x="1643045" y="7185"/>
                  </a:cubicBezTo>
                  <a:cubicBezTo>
                    <a:pt x="1647646" y="11785"/>
                    <a:pt x="1650230" y="18024"/>
                    <a:pt x="1650230" y="24530"/>
                  </a:cubicBezTo>
                  <a:lnTo>
                    <a:pt x="1650230" y="851362"/>
                  </a:lnTo>
                  <a:cubicBezTo>
                    <a:pt x="1650230" y="857868"/>
                    <a:pt x="1647646" y="864107"/>
                    <a:pt x="1643045" y="868707"/>
                  </a:cubicBezTo>
                  <a:cubicBezTo>
                    <a:pt x="1638445" y="873308"/>
                    <a:pt x="1632206" y="875892"/>
                    <a:pt x="1625700" y="875892"/>
                  </a:cubicBezTo>
                  <a:lnTo>
                    <a:pt x="24530" y="875892"/>
                  </a:lnTo>
                  <a:cubicBezTo>
                    <a:pt x="18024" y="875892"/>
                    <a:pt x="11785" y="873308"/>
                    <a:pt x="7185" y="868707"/>
                  </a:cubicBezTo>
                  <a:cubicBezTo>
                    <a:pt x="2584" y="864107"/>
                    <a:pt x="0" y="857868"/>
                    <a:pt x="0" y="851362"/>
                  </a:cubicBezTo>
                  <a:lnTo>
                    <a:pt x="0" y="24530"/>
                  </a:lnTo>
                  <a:cubicBezTo>
                    <a:pt x="0" y="18024"/>
                    <a:pt x="2584" y="11785"/>
                    <a:pt x="7185" y="7185"/>
                  </a:cubicBezTo>
                  <a:cubicBezTo>
                    <a:pt x="11785" y="2584"/>
                    <a:pt x="18024" y="0"/>
                    <a:pt x="24530" y="0"/>
                  </a:cubicBezTo>
                  <a:close/>
                </a:path>
              </a:pathLst>
            </a:custGeom>
            <a:solidFill>
              <a:srgbClr val="2A0DA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1650230" cy="904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120777" y="1104352"/>
            <a:ext cx="4734098" cy="2512715"/>
            <a:chOff x="0" y="0"/>
            <a:chExt cx="1650230" cy="87589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650230" cy="875892"/>
            </a:xfrm>
            <a:custGeom>
              <a:avLst/>
              <a:gdLst/>
              <a:ahLst/>
              <a:cxnLst/>
              <a:rect l="l" t="t" r="r" b="b"/>
              <a:pathLst>
                <a:path w="1650230" h="875892">
                  <a:moveTo>
                    <a:pt x="24530" y="0"/>
                  </a:moveTo>
                  <a:lnTo>
                    <a:pt x="1625700" y="0"/>
                  </a:lnTo>
                  <a:cubicBezTo>
                    <a:pt x="1632206" y="0"/>
                    <a:pt x="1638445" y="2584"/>
                    <a:pt x="1643045" y="7185"/>
                  </a:cubicBezTo>
                  <a:cubicBezTo>
                    <a:pt x="1647646" y="11785"/>
                    <a:pt x="1650230" y="18024"/>
                    <a:pt x="1650230" y="24530"/>
                  </a:cubicBezTo>
                  <a:lnTo>
                    <a:pt x="1650230" y="851362"/>
                  </a:lnTo>
                  <a:cubicBezTo>
                    <a:pt x="1650230" y="857868"/>
                    <a:pt x="1647646" y="864107"/>
                    <a:pt x="1643045" y="868707"/>
                  </a:cubicBezTo>
                  <a:cubicBezTo>
                    <a:pt x="1638445" y="873308"/>
                    <a:pt x="1632206" y="875892"/>
                    <a:pt x="1625700" y="875892"/>
                  </a:cubicBezTo>
                  <a:lnTo>
                    <a:pt x="24530" y="875892"/>
                  </a:lnTo>
                  <a:cubicBezTo>
                    <a:pt x="18024" y="875892"/>
                    <a:pt x="11785" y="873308"/>
                    <a:pt x="7185" y="868707"/>
                  </a:cubicBezTo>
                  <a:cubicBezTo>
                    <a:pt x="2584" y="864107"/>
                    <a:pt x="0" y="857868"/>
                    <a:pt x="0" y="851362"/>
                  </a:cubicBezTo>
                  <a:lnTo>
                    <a:pt x="0" y="24530"/>
                  </a:lnTo>
                  <a:cubicBezTo>
                    <a:pt x="0" y="18024"/>
                    <a:pt x="2584" y="11785"/>
                    <a:pt x="7185" y="7185"/>
                  </a:cubicBezTo>
                  <a:cubicBezTo>
                    <a:pt x="11785" y="2584"/>
                    <a:pt x="18024" y="0"/>
                    <a:pt x="24530" y="0"/>
                  </a:cubicBezTo>
                  <a:close/>
                </a:path>
              </a:pathLst>
            </a:custGeom>
            <a:solidFill>
              <a:srgbClr val="2A0DA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1650230" cy="904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090954" y="3868078"/>
            <a:ext cx="4734098" cy="2512715"/>
            <a:chOff x="0" y="0"/>
            <a:chExt cx="1650230" cy="87589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650230" cy="875892"/>
            </a:xfrm>
            <a:custGeom>
              <a:avLst/>
              <a:gdLst/>
              <a:ahLst/>
              <a:cxnLst/>
              <a:rect l="l" t="t" r="r" b="b"/>
              <a:pathLst>
                <a:path w="1650230" h="875892">
                  <a:moveTo>
                    <a:pt x="24530" y="0"/>
                  </a:moveTo>
                  <a:lnTo>
                    <a:pt x="1625700" y="0"/>
                  </a:lnTo>
                  <a:cubicBezTo>
                    <a:pt x="1632206" y="0"/>
                    <a:pt x="1638445" y="2584"/>
                    <a:pt x="1643045" y="7185"/>
                  </a:cubicBezTo>
                  <a:cubicBezTo>
                    <a:pt x="1647646" y="11785"/>
                    <a:pt x="1650230" y="18024"/>
                    <a:pt x="1650230" y="24530"/>
                  </a:cubicBezTo>
                  <a:lnTo>
                    <a:pt x="1650230" y="851362"/>
                  </a:lnTo>
                  <a:cubicBezTo>
                    <a:pt x="1650230" y="857868"/>
                    <a:pt x="1647646" y="864107"/>
                    <a:pt x="1643045" y="868707"/>
                  </a:cubicBezTo>
                  <a:cubicBezTo>
                    <a:pt x="1638445" y="873308"/>
                    <a:pt x="1632206" y="875892"/>
                    <a:pt x="1625700" y="875892"/>
                  </a:cubicBezTo>
                  <a:lnTo>
                    <a:pt x="24530" y="875892"/>
                  </a:lnTo>
                  <a:cubicBezTo>
                    <a:pt x="18024" y="875892"/>
                    <a:pt x="11785" y="873308"/>
                    <a:pt x="7185" y="868707"/>
                  </a:cubicBezTo>
                  <a:cubicBezTo>
                    <a:pt x="2584" y="864107"/>
                    <a:pt x="0" y="857868"/>
                    <a:pt x="0" y="851362"/>
                  </a:cubicBezTo>
                  <a:lnTo>
                    <a:pt x="0" y="24530"/>
                  </a:lnTo>
                  <a:cubicBezTo>
                    <a:pt x="0" y="18024"/>
                    <a:pt x="2584" y="11785"/>
                    <a:pt x="7185" y="7185"/>
                  </a:cubicBezTo>
                  <a:cubicBezTo>
                    <a:pt x="11785" y="2584"/>
                    <a:pt x="18024" y="0"/>
                    <a:pt x="24530" y="0"/>
                  </a:cubicBezTo>
                  <a:close/>
                </a:path>
              </a:pathLst>
            </a:custGeom>
            <a:solidFill>
              <a:srgbClr val="2A0DA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1650230" cy="904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AutoShape 26"/>
          <p:cNvSpPr/>
          <p:nvPr/>
        </p:nvSpPr>
        <p:spPr>
          <a:xfrm>
            <a:off x="310661" y="1684898"/>
            <a:ext cx="4499464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AutoShape 27"/>
          <p:cNvSpPr/>
          <p:nvPr/>
        </p:nvSpPr>
        <p:spPr>
          <a:xfrm>
            <a:off x="5227223" y="1703948"/>
            <a:ext cx="4499464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AutoShape 28"/>
          <p:cNvSpPr/>
          <p:nvPr/>
        </p:nvSpPr>
        <p:spPr>
          <a:xfrm>
            <a:off x="345191" y="4466515"/>
            <a:ext cx="4499464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" name="AutoShape 29"/>
          <p:cNvSpPr/>
          <p:nvPr/>
        </p:nvSpPr>
        <p:spPr>
          <a:xfrm>
            <a:off x="5208271" y="4478712"/>
            <a:ext cx="4499464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0" name="Group 30"/>
          <p:cNvGrpSpPr/>
          <p:nvPr/>
        </p:nvGrpSpPr>
        <p:grpSpPr>
          <a:xfrm>
            <a:off x="7727240" y="7138035"/>
            <a:ext cx="2147247" cy="321693"/>
            <a:chOff x="0" y="0"/>
            <a:chExt cx="2862995" cy="428924"/>
          </a:xfrm>
        </p:grpSpPr>
        <p:sp>
          <p:nvSpPr>
            <p:cNvPr id="31" name="TextBox 31"/>
            <p:cNvSpPr txBox="1"/>
            <p:nvPr/>
          </p:nvSpPr>
          <p:spPr>
            <a:xfrm>
              <a:off x="428924" y="23952"/>
              <a:ext cx="2434071" cy="342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Radnika Next"/>
                  <a:ea typeface="Radnika Next"/>
                  <a:cs typeface="Radnika Next"/>
                  <a:sym typeface="Radnika Next"/>
                </a:rPr>
                <a:t>Same Connectivity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0" y="0"/>
              <a:ext cx="428924" cy="428924"/>
            </a:xfrm>
            <a:custGeom>
              <a:avLst/>
              <a:gdLst/>
              <a:ahLst/>
              <a:cxnLst/>
              <a:rect l="l" t="t" r="r" b="b"/>
              <a:pathLst>
                <a:path w="428924" h="428924">
                  <a:moveTo>
                    <a:pt x="0" y="0"/>
                  </a:moveTo>
                  <a:lnTo>
                    <a:pt x="428924" y="0"/>
                  </a:lnTo>
                  <a:lnTo>
                    <a:pt x="428924" y="428924"/>
                  </a:lnTo>
                  <a:lnTo>
                    <a:pt x="0" y="428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33" name="Group 33"/>
          <p:cNvGrpSpPr/>
          <p:nvPr/>
        </p:nvGrpSpPr>
        <p:grpSpPr>
          <a:xfrm>
            <a:off x="631946" y="154558"/>
            <a:ext cx="8794507" cy="559269"/>
            <a:chOff x="0" y="0"/>
            <a:chExt cx="3065624" cy="19495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065624" cy="194952"/>
            </a:xfrm>
            <a:custGeom>
              <a:avLst/>
              <a:gdLst/>
              <a:ahLst/>
              <a:cxnLst/>
              <a:rect l="l" t="t" r="r" b="b"/>
              <a:pathLst>
                <a:path w="3065624" h="194952">
                  <a:moveTo>
                    <a:pt x="26409" y="0"/>
                  </a:moveTo>
                  <a:lnTo>
                    <a:pt x="3039214" y="0"/>
                  </a:lnTo>
                  <a:cubicBezTo>
                    <a:pt x="3053800" y="0"/>
                    <a:pt x="3065624" y="11824"/>
                    <a:pt x="3065624" y="26409"/>
                  </a:cubicBezTo>
                  <a:lnTo>
                    <a:pt x="3065624" y="168543"/>
                  </a:lnTo>
                  <a:cubicBezTo>
                    <a:pt x="3065624" y="175547"/>
                    <a:pt x="3062841" y="182264"/>
                    <a:pt x="3057888" y="187217"/>
                  </a:cubicBezTo>
                  <a:cubicBezTo>
                    <a:pt x="3052936" y="192170"/>
                    <a:pt x="3046218" y="194952"/>
                    <a:pt x="3039214" y="194952"/>
                  </a:cubicBezTo>
                  <a:lnTo>
                    <a:pt x="26409" y="194952"/>
                  </a:lnTo>
                  <a:cubicBezTo>
                    <a:pt x="19405" y="194952"/>
                    <a:pt x="12688" y="192170"/>
                    <a:pt x="7735" y="187217"/>
                  </a:cubicBezTo>
                  <a:cubicBezTo>
                    <a:pt x="2782" y="182264"/>
                    <a:pt x="0" y="175547"/>
                    <a:pt x="0" y="168543"/>
                  </a:cubicBezTo>
                  <a:lnTo>
                    <a:pt x="0" y="26409"/>
                  </a:lnTo>
                  <a:cubicBezTo>
                    <a:pt x="0" y="19405"/>
                    <a:pt x="2782" y="12688"/>
                    <a:pt x="7735" y="7735"/>
                  </a:cubicBezTo>
                  <a:cubicBezTo>
                    <a:pt x="12688" y="2782"/>
                    <a:pt x="19405" y="0"/>
                    <a:pt x="26409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0" y="-28575"/>
              <a:ext cx="3065624" cy="2235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807587" y="1723760"/>
            <a:ext cx="3473573" cy="1857856"/>
            <a:chOff x="0" y="0"/>
            <a:chExt cx="4631431" cy="247714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631431" cy="2477142"/>
            </a:xfrm>
            <a:custGeom>
              <a:avLst/>
              <a:gdLst/>
              <a:ahLst/>
              <a:cxnLst/>
              <a:rect l="l" t="t" r="r" b="b"/>
              <a:pathLst>
                <a:path w="4631431" h="2477142">
                  <a:moveTo>
                    <a:pt x="0" y="0"/>
                  </a:moveTo>
                  <a:lnTo>
                    <a:pt x="4631431" y="0"/>
                  </a:lnTo>
                  <a:lnTo>
                    <a:pt x="4631431" y="2477142"/>
                  </a:lnTo>
                  <a:lnTo>
                    <a:pt x="0" y="2477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4102" b="-42863"/>
              </a:stretch>
            </a:blipFill>
          </p:spPr>
        </p:sp>
        <p:sp>
          <p:nvSpPr>
            <p:cNvPr id="38" name="Freeform 38"/>
            <p:cNvSpPr/>
            <p:nvPr/>
          </p:nvSpPr>
          <p:spPr>
            <a:xfrm>
              <a:off x="2817510" y="1113193"/>
              <a:ext cx="443253" cy="273220"/>
            </a:xfrm>
            <a:custGeom>
              <a:avLst/>
              <a:gdLst/>
              <a:ahLst/>
              <a:cxnLst/>
              <a:rect l="l" t="t" r="r" b="b"/>
              <a:pathLst>
                <a:path w="443253" h="273220">
                  <a:moveTo>
                    <a:pt x="0" y="0"/>
                  </a:moveTo>
                  <a:lnTo>
                    <a:pt x="443254" y="0"/>
                  </a:lnTo>
                  <a:lnTo>
                    <a:pt x="443254" y="273221"/>
                  </a:lnTo>
                  <a:lnTo>
                    <a:pt x="0" y="2732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16247" t="-768061" r="-281675" b="-750897"/>
              </a:stretch>
            </a:blipFill>
          </p:spPr>
        </p:sp>
        <p:sp>
          <p:nvSpPr>
            <p:cNvPr id="39" name="Freeform 39"/>
            <p:cNvSpPr/>
            <p:nvPr/>
          </p:nvSpPr>
          <p:spPr>
            <a:xfrm>
              <a:off x="2834492" y="1665485"/>
              <a:ext cx="204645" cy="414070"/>
            </a:xfrm>
            <a:custGeom>
              <a:avLst/>
              <a:gdLst/>
              <a:ahLst/>
              <a:cxnLst/>
              <a:rect l="l" t="t" r="r" b="b"/>
              <a:pathLst>
                <a:path w="204645" h="414070">
                  <a:moveTo>
                    <a:pt x="0" y="0"/>
                  </a:moveTo>
                  <a:lnTo>
                    <a:pt x="204645" y="0"/>
                  </a:lnTo>
                  <a:lnTo>
                    <a:pt x="204645" y="414070"/>
                  </a:lnTo>
                  <a:lnTo>
                    <a:pt x="0" y="4140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21771" t="-632794" r="-702760" b="-317205"/>
              </a:stretch>
            </a:blipFill>
          </p:spPr>
        </p:sp>
        <p:sp>
          <p:nvSpPr>
            <p:cNvPr id="40" name="Freeform 40"/>
            <p:cNvSpPr/>
            <p:nvPr/>
          </p:nvSpPr>
          <p:spPr>
            <a:xfrm>
              <a:off x="2366122" y="481818"/>
              <a:ext cx="219142" cy="402853"/>
            </a:xfrm>
            <a:custGeom>
              <a:avLst/>
              <a:gdLst/>
              <a:ahLst/>
              <a:cxnLst/>
              <a:rect l="l" t="t" r="r" b="b"/>
              <a:pathLst>
                <a:path w="219142" h="402853">
                  <a:moveTo>
                    <a:pt x="0" y="0"/>
                  </a:moveTo>
                  <a:lnTo>
                    <a:pt x="219142" y="0"/>
                  </a:lnTo>
                  <a:lnTo>
                    <a:pt x="219142" y="402853"/>
                  </a:lnTo>
                  <a:lnTo>
                    <a:pt x="0" y="402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14419" t="-353182" r="-866956" b="-624636"/>
              </a:stretch>
            </a:blipFill>
          </p:spPr>
        </p:sp>
        <p:sp>
          <p:nvSpPr>
            <p:cNvPr id="41" name="Freeform 41"/>
            <p:cNvSpPr/>
            <p:nvPr/>
          </p:nvSpPr>
          <p:spPr>
            <a:xfrm>
              <a:off x="2185311" y="1176424"/>
              <a:ext cx="419379" cy="268190"/>
            </a:xfrm>
            <a:custGeom>
              <a:avLst/>
              <a:gdLst/>
              <a:ahLst/>
              <a:cxnLst/>
              <a:rect l="l" t="t" r="r" b="b"/>
              <a:pathLst>
                <a:path w="419379" h="268190">
                  <a:moveTo>
                    <a:pt x="0" y="0"/>
                  </a:moveTo>
                  <a:lnTo>
                    <a:pt x="419378" y="0"/>
                  </a:lnTo>
                  <a:lnTo>
                    <a:pt x="419378" y="268190"/>
                  </a:lnTo>
                  <a:lnTo>
                    <a:pt x="0" y="2681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09147" t="-826623" r="-469101" b="-759475"/>
              </a:stretch>
            </a:blipFill>
          </p:spPr>
        </p:sp>
      </p:grpSp>
      <p:sp>
        <p:nvSpPr>
          <p:cNvPr id="42" name="TextBox 42"/>
          <p:cNvSpPr txBox="1"/>
          <p:nvPr/>
        </p:nvSpPr>
        <p:spPr>
          <a:xfrm>
            <a:off x="797676" y="129533"/>
            <a:ext cx="8463049" cy="898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CARD 09 </a:t>
            </a:r>
            <a:r>
              <a:rPr lang="en-US" sz="3000" b="1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- ASPIRIN (acetylsalicylic acid)</a:t>
            </a:r>
          </a:p>
          <a:p>
            <a:pPr algn="ctr">
              <a:lnSpc>
                <a:spcPts val="2800"/>
              </a:lnSpc>
            </a:pPr>
            <a:r>
              <a:rPr lang="en-US" sz="2000" u="sng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Molecular Formula:</a:t>
            </a:r>
            <a:r>
              <a:rPr lang="en-US" sz="2000" b="1" u="sng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C9H804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164473" y="6628443"/>
            <a:ext cx="3729453" cy="382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b="1">
                <a:solidFill>
                  <a:srgbClr val="FFFFFF"/>
                </a:solidFill>
                <a:latin typeface="Radnika Next Bold"/>
                <a:ea typeface="Radnika Next Bold"/>
                <a:cs typeface="Radnika Next Bold"/>
                <a:sym typeface="Radnika Next Bold"/>
              </a:rPr>
              <a:t>- </a:t>
            </a:r>
            <a:r>
              <a:rPr lang="en-US" sz="2200" b="1" u="sng">
                <a:solidFill>
                  <a:srgbClr val="FFFFFF"/>
                </a:solidFill>
                <a:latin typeface="Radnika Next Bold"/>
                <a:ea typeface="Radnika Next Bold"/>
                <a:cs typeface="Radnika Next Bold"/>
                <a:sym typeface="Radnika Next Bold"/>
              </a:rPr>
              <a:t>VERIFICATION STRIP</a:t>
            </a:r>
            <a:r>
              <a:rPr lang="en-US" sz="2200" b="1">
                <a:solidFill>
                  <a:srgbClr val="FFFFFF"/>
                </a:solidFill>
                <a:latin typeface="Radnika Next Bold"/>
                <a:ea typeface="Radnika Next Bold"/>
                <a:cs typeface="Radnika Next Bold"/>
                <a:sym typeface="Radnika Next Bold"/>
              </a:rPr>
              <a:t> -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215251" y="1176611"/>
            <a:ext cx="2710647" cy="422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Knockout Welterweight Bold"/>
                <a:ea typeface="Knockout Welterweight Bold"/>
                <a:cs typeface="Knockout Welterweight Bold"/>
                <a:sym typeface="Knockout Welterweight Bold"/>
              </a:rPr>
              <a:t>MOLECULAR FORMULA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337665" y="1167086"/>
            <a:ext cx="2300321" cy="431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Knockout Welterweight Bold"/>
                <a:ea typeface="Knockout Welterweight Bold"/>
                <a:cs typeface="Knockout Welterweight Bold"/>
                <a:sym typeface="Knockout Welterweight Bold"/>
              </a:rPr>
              <a:t>LEWIS STRUCTURE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179949" y="3959967"/>
            <a:ext cx="2556107" cy="422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Knockout Welterweight Bold"/>
                <a:ea typeface="Knockout Welterweight Bold"/>
                <a:cs typeface="Knockout Welterweight Bold"/>
                <a:sym typeface="Knockout Welterweight Bold"/>
              </a:rPr>
              <a:t>BOND-LINE FORMULA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21851" y="3959967"/>
            <a:ext cx="4297447" cy="422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Knockout Welterweight Bold"/>
                <a:ea typeface="Knockout Welterweight Bold"/>
                <a:cs typeface="Knockout Welterweight Bold"/>
                <a:sym typeface="Knockout Welterweight Bold"/>
              </a:rPr>
              <a:t>CONDENSED STRUCTURAL FORMULA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31517" y="1935407"/>
            <a:ext cx="3953580" cy="992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4800" dirty="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 C9H8O4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203526" y="4943323"/>
            <a:ext cx="4734098" cy="8188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800" dirty="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CH3COO</a:t>
            </a:r>
          </a:p>
          <a:p>
            <a:pPr algn="ctr">
              <a:lnSpc>
                <a:spcPts val="3080"/>
              </a:lnSpc>
            </a:pPr>
            <a:r>
              <a:rPr lang="en-US" sz="2800" dirty="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(1,2-C6H4)COOH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6551708" y="4424352"/>
            <a:ext cx="1865970" cy="1956441"/>
            <a:chOff x="0" y="0"/>
            <a:chExt cx="2487960" cy="2608589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2487960" cy="2608589"/>
            </a:xfrm>
            <a:custGeom>
              <a:avLst/>
              <a:gdLst/>
              <a:ahLst/>
              <a:cxnLst/>
              <a:rect l="l" t="t" r="r" b="b"/>
              <a:pathLst>
                <a:path w="2487960" h="2608589">
                  <a:moveTo>
                    <a:pt x="0" y="0"/>
                  </a:moveTo>
                  <a:lnTo>
                    <a:pt x="2487960" y="0"/>
                  </a:lnTo>
                  <a:lnTo>
                    <a:pt x="2487960" y="2608589"/>
                  </a:lnTo>
                  <a:lnTo>
                    <a:pt x="0" y="26085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52" name="Freeform 52"/>
            <p:cNvSpPr/>
            <p:nvPr/>
          </p:nvSpPr>
          <p:spPr>
            <a:xfrm>
              <a:off x="1781175" y="2296197"/>
              <a:ext cx="374783" cy="229034"/>
            </a:xfrm>
            <a:custGeom>
              <a:avLst/>
              <a:gdLst/>
              <a:ahLst/>
              <a:cxnLst/>
              <a:rect l="l" t="t" r="r" b="b"/>
              <a:pathLst>
                <a:path w="374783" h="229034">
                  <a:moveTo>
                    <a:pt x="0" y="0"/>
                  </a:moveTo>
                  <a:lnTo>
                    <a:pt x="374783" y="0"/>
                  </a:lnTo>
                  <a:lnTo>
                    <a:pt x="374783" y="229034"/>
                  </a:lnTo>
                  <a:lnTo>
                    <a:pt x="0" y="2290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453884" t="-966475" r="-69719" b="-3442"/>
              </a:stretch>
            </a:blipFill>
          </p:spPr>
        </p:sp>
        <p:sp>
          <p:nvSpPr>
            <p:cNvPr id="53" name="Freeform 53"/>
            <p:cNvSpPr/>
            <p:nvPr/>
          </p:nvSpPr>
          <p:spPr>
            <a:xfrm>
              <a:off x="2100015" y="1420599"/>
              <a:ext cx="171592" cy="213786"/>
            </a:xfrm>
            <a:custGeom>
              <a:avLst/>
              <a:gdLst/>
              <a:ahLst/>
              <a:cxnLst/>
              <a:rect l="l" t="t" r="r" b="b"/>
              <a:pathLst>
                <a:path w="171592" h="213786">
                  <a:moveTo>
                    <a:pt x="0" y="0"/>
                  </a:moveTo>
                  <a:lnTo>
                    <a:pt x="171592" y="0"/>
                  </a:lnTo>
                  <a:lnTo>
                    <a:pt x="171592" y="213786"/>
                  </a:lnTo>
                  <a:lnTo>
                    <a:pt x="0" y="2137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1177890" t="-625893" r="-84157" b="-420334"/>
              </a:stretch>
            </a:blipFill>
          </p:spPr>
        </p:sp>
        <p:sp>
          <p:nvSpPr>
            <p:cNvPr id="54" name="Freeform 54"/>
            <p:cNvSpPr/>
            <p:nvPr/>
          </p:nvSpPr>
          <p:spPr>
            <a:xfrm>
              <a:off x="1304725" y="491564"/>
              <a:ext cx="227003" cy="253399"/>
            </a:xfrm>
            <a:custGeom>
              <a:avLst/>
              <a:gdLst/>
              <a:ahLst/>
              <a:cxnLst/>
              <a:rect l="l" t="t" r="r" b="b"/>
              <a:pathLst>
                <a:path w="227003" h="253399">
                  <a:moveTo>
                    <a:pt x="0" y="0"/>
                  </a:moveTo>
                  <a:lnTo>
                    <a:pt x="227003" y="0"/>
                  </a:lnTo>
                  <a:lnTo>
                    <a:pt x="227003" y="253399"/>
                  </a:lnTo>
                  <a:lnTo>
                    <a:pt x="0" y="2533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559123" t="-167998" r="-403574" b="-730159"/>
              </a:stretch>
            </a:blipFill>
          </p:spPr>
        </p:sp>
        <p:sp>
          <p:nvSpPr>
            <p:cNvPr id="55" name="Freeform 55"/>
            <p:cNvSpPr/>
            <p:nvPr/>
          </p:nvSpPr>
          <p:spPr>
            <a:xfrm>
              <a:off x="2185811" y="941643"/>
              <a:ext cx="235773" cy="225727"/>
            </a:xfrm>
            <a:custGeom>
              <a:avLst/>
              <a:gdLst/>
              <a:ahLst/>
              <a:cxnLst/>
              <a:rect l="l" t="t" r="r" b="b"/>
              <a:pathLst>
                <a:path w="235773" h="225727">
                  <a:moveTo>
                    <a:pt x="0" y="0"/>
                  </a:moveTo>
                  <a:lnTo>
                    <a:pt x="235773" y="0"/>
                  </a:lnTo>
                  <a:lnTo>
                    <a:pt x="235773" y="225727"/>
                  </a:lnTo>
                  <a:lnTo>
                    <a:pt x="0" y="2257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907545" t="-388398" b="-615012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3526" y="1104352"/>
            <a:ext cx="4734098" cy="2512715"/>
            <a:chOff x="0" y="0"/>
            <a:chExt cx="1650230" cy="8758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50230" cy="875892"/>
            </a:xfrm>
            <a:custGeom>
              <a:avLst/>
              <a:gdLst/>
              <a:ahLst/>
              <a:cxnLst/>
              <a:rect l="l" t="t" r="r" b="b"/>
              <a:pathLst>
                <a:path w="1650230" h="875892">
                  <a:moveTo>
                    <a:pt x="24530" y="0"/>
                  </a:moveTo>
                  <a:lnTo>
                    <a:pt x="1625700" y="0"/>
                  </a:lnTo>
                  <a:cubicBezTo>
                    <a:pt x="1632206" y="0"/>
                    <a:pt x="1638445" y="2584"/>
                    <a:pt x="1643045" y="7185"/>
                  </a:cubicBezTo>
                  <a:cubicBezTo>
                    <a:pt x="1647646" y="11785"/>
                    <a:pt x="1650230" y="18024"/>
                    <a:pt x="1650230" y="24530"/>
                  </a:cubicBezTo>
                  <a:lnTo>
                    <a:pt x="1650230" y="851362"/>
                  </a:lnTo>
                  <a:cubicBezTo>
                    <a:pt x="1650230" y="857868"/>
                    <a:pt x="1647646" y="864107"/>
                    <a:pt x="1643045" y="868707"/>
                  </a:cubicBezTo>
                  <a:cubicBezTo>
                    <a:pt x="1638445" y="873308"/>
                    <a:pt x="1632206" y="875892"/>
                    <a:pt x="1625700" y="875892"/>
                  </a:cubicBezTo>
                  <a:lnTo>
                    <a:pt x="24530" y="875892"/>
                  </a:lnTo>
                  <a:cubicBezTo>
                    <a:pt x="18024" y="875892"/>
                    <a:pt x="11785" y="873308"/>
                    <a:pt x="7185" y="868707"/>
                  </a:cubicBezTo>
                  <a:cubicBezTo>
                    <a:pt x="2584" y="864107"/>
                    <a:pt x="0" y="857868"/>
                    <a:pt x="0" y="851362"/>
                  </a:cubicBezTo>
                  <a:lnTo>
                    <a:pt x="0" y="24530"/>
                  </a:lnTo>
                  <a:cubicBezTo>
                    <a:pt x="0" y="18024"/>
                    <a:pt x="2584" y="11785"/>
                    <a:pt x="7185" y="7185"/>
                  </a:cubicBezTo>
                  <a:cubicBezTo>
                    <a:pt x="11785" y="2584"/>
                    <a:pt x="18024" y="0"/>
                    <a:pt x="24530" y="0"/>
                  </a:cubicBezTo>
                  <a:close/>
                </a:path>
              </a:pathLst>
            </a:custGeom>
            <a:solidFill>
              <a:srgbClr val="2A0DA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650230" cy="904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0086" y="6533193"/>
            <a:ext cx="9818228" cy="1124459"/>
            <a:chOff x="0" y="0"/>
            <a:chExt cx="3422476" cy="3919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422476" cy="391968"/>
            </a:xfrm>
            <a:custGeom>
              <a:avLst/>
              <a:gdLst/>
              <a:ahLst/>
              <a:cxnLst/>
              <a:rect l="l" t="t" r="r" b="b"/>
              <a:pathLst>
                <a:path w="3422476" h="391968">
                  <a:moveTo>
                    <a:pt x="0" y="0"/>
                  </a:moveTo>
                  <a:lnTo>
                    <a:pt x="3422476" y="0"/>
                  </a:lnTo>
                  <a:lnTo>
                    <a:pt x="3422476" y="391968"/>
                  </a:lnTo>
                  <a:lnTo>
                    <a:pt x="0" y="391968"/>
                  </a:lnTo>
                  <a:close/>
                </a:path>
              </a:pathLst>
            </a:custGeom>
            <a:solidFill>
              <a:srgbClr val="150068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3422476" cy="4205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03526" y="7137394"/>
            <a:ext cx="2304781" cy="321693"/>
            <a:chOff x="0" y="0"/>
            <a:chExt cx="3073041" cy="42892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28924" cy="428924"/>
            </a:xfrm>
            <a:custGeom>
              <a:avLst/>
              <a:gdLst/>
              <a:ahLst/>
              <a:cxnLst/>
              <a:rect l="l" t="t" r="r" b="b"/>
              <a:pathLst>
                <a:path w="428924" h="428924">
                  <a:moveTo>
                    <a:pt x="0" y="0"/>
                  </a:moveTo>
                  <a:lnTo>
                    <a:pt x="428924" y="0"/>
                  </a:lnTo>
                  <a:lnTo>
                    <a:pt x="428924" y="428924"/>
                  </a:lnTo>
                  <a:lnTo>
                    <a:pt x="0" y="428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428924" y="23952"/>
              <a:ext cx="2644117" cy="342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Radnika Next"/>
                  <a:ea typeface="Radnika Next"/>
                  <a:cs typeface="Radnika Next"/>
                  <a:sym typeface="Radnika Next"/>
                </a:rPr>
                <a:t>Atom Count Verified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768364" y="7138035"/>
            <a:ext cx="2000779" cy="321693"/>
            <a:chOff x="0" y="0"/>
            <a:chExt cx="2667705" cy="428924"/>
          </a:xfrm>
        </p:grpSpPr>
        <p:sp>
          <p:nvSpPr>
            <p:cNvPr id="12" name="TextBox 12"/>
            <p:cNvSpPr txBox="1"/>
            <p:nvPr/>
          </p:nvSpPr>
          <p:spPr>
            <a:xfrm>
              <a:off x="457418" y="23952"/>
              <a:ext cx="2210287" cy="342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Radnika Next"/>
                  <a:ea typeface="Radnika Next"/>
                  <a:cs typeface="Radnika Next"/>
                  <a:sym typeface="Radnika Next"/>
                </a:rPr>
                <a:t>Valence Checked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428924" cy="428924"/>
            </a:xfrm>
            <a:custGeom>
              <a:avLst/>
              <a:gdLst/>
              <a:ahLst/>
              <a:cxnLst/>
              <a:rect l="l" t="t" r="r" b="b"/>
              <a:pathLst>
                <a:path w="428924" h="428924">
                  <a:moveTo>
                    <a:pt x="0" y="0"/>
                  </a:moveTo>
                  <a:lnTo>
                    <a:pt x="428924" y="0"/>
                  </a:lnTo>
                  <a:lnTo>
                    <a:pt x="428924" y="428924"/>
                  </a:lnTo>
                  <a:lnTo>
                    <a:pt x="0" y="428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5090954" y="7138035"/>
            <a:ext cx="2379111" cy="321693"/>
            <a:chOff x="0" y="0"/>
            <a:chExt cx="3172148" cy="428924"/>
          </a:xfrm>
        </p:grpSpPr>
        <p:sp>
          <p:nvSpPr>
            <p:cNvPr id="15" name="TextBox 15"/>
            <p:cNvSpPr txBox="1"/>
            <p:nvPr/>
          </p:nvSpPr>
          <p:spPr>
            <a:xfrm>
              <a:off x="428924" y="23952"/>
              <a:ext cx="2743223" cy="342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Radnika Next"/>
                  <a:ea typeface="Radnika Next"/>
                  <a:cs typeface="Radnika Next"/>
                  <a:sym typeface="Radnika Next"/>
                </a:rPr>
                <a:t>Bond Order Checked</a:t>
              </a:r>
            </a:p>
          </p:txBody>
        </p:sp>
        <p:sp>
          <p:nvSpPr>
            <p:cNvPr id="16" name="Freeform 16"/>
            <p:cNvSpPr/>
            <p:nvPr/>
          </p:nvSpPr>
          <p:spPr>
            <a:xfrm>
              <a:off x="0" y="0"/>
              <a:ext cx="428924" cy="428924"/>
            </a:xfrm>
            <a:custGeom>
              <a:avLst/>
              <a:gdLst/>
              <a:ahLst/>
              <a:cxnLst/>
              <a:rect l="l" t="t" r="r" b="b"/>
              <a:pathLst>
                <a:path w="428924" h="428924">
                  <a:moveTo>
                    <a:pt x="0" y="0"/>
                  </a:moveTo>
                  <a:lnTo>
                    <a:pt x="428924" y="0"/>
                  </a:lnTo>
                  <a:lnTo>
                    <a:pt x="428924" y="428924"/>
                  </a:lnTo>
                  <a:lnTo>
                    <a:pt x="0" y="428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203526" y="3849747"/>
            <a:ext cx="4734098" cy="2512715"/>
            <a:chOff x="0" y="0"/>
            <a:chExt cx="1650230" cy="87589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650230" cy="875892"/>
            </a:xfrm>
            <a:custGeom>
              <a:avLst/>
              <a:gdLst/>
              <a:ahLst/>
              <a:cxnLst/>
              <a:rect l="l" t="t" r="r" b="b"/>
              <a:pathLst>
                <a:path w="1650230" h="875892">
                  <a:moveTo>
                    <a:pt x="24530" y="0"/>
                  </a:moveTo>
                  <a:lnTo>
                    <a:pt x="1625700" y="0"/>
                  </a:lnTo>
                  <a:cubicBezTo>
                    <a:pt x="1632206" y="0"/>
                    <a:pt x="1638445" y="2584"/>
                    <a:pt x="1643045" y="7185"/>
                  </a:cubicBezTo>
                  <a:cubicBezTo>
                    <a:pt x="1647646" y="11785"/>
                    <a:pt x="1650230" y="18024"/>
                    <a:pt x="1650230" y="24530"/>
                  </a:cubicBezTo>
                  <a:lnTo>
                    <a:pt x="1650230" y="851362"/>
                  </a:lnTo>
                  <a:cubicBezTo>
                    <a:pt x="1650230" y="857868"/>
                    <a:pt x="1647646" y="864107"/>
                    <a:pt x="1643045" y="868707"/>
                  </a:cubicBezTo>
                  <a:cubicBezTo>
                    <a:pt x="1638445" y="873308"/>
                    <a:pt x="1632206" y="875892"/>
                    <a:pt x="1625700" y="875892"/>
                  </a:cubicBezTo>
                  <a:lnTo>
                    <a:pt x="24530" y="875892"/>
                  </a:lnTo>
                  <a:cubicBezTo>
                    <a:pt x="18024" y="875892"/>
                    <a:pt x="11785" y="873308"/>
                    <a:pt x="7185" y="868707"/>
                  </a:cubicBezTo>
                  <a:cubicBezTo>
                    <a:pt x="2584" y="864107"/>
                    <a:pt x="0" y="857868"/>
                    <a:pt x="0" y="851362"/>
                  </a:cubicBezTo>
                  <a:lnTo>
                    <a:pt x="0" y="24530"/>
                  </a:lnTo>
                  <a:cubicBezTo>
                    <a:pt x="0" y="18024"/>
                    <a:pt x="2584" y="11785"/>
                    <a:pt x="7185" y="7185"/>
                  </a:cubicBezTo>
                  <a:cubicBezTo>
                    <a:pt x="11785" y="2584"/>
                    <a:pt x="18024" y="0"/>
                    <a:pt x="24530" y="0"/>
                  </a:cubicBezTo>
                  <a:close/>
                </a:path>
              </a:pathLst>
            </a:custGeom>
            <a:solidFill>
              <a:srgbClr val="2A0DA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1650230" cy="904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120777" y="1104352"/>
            <a:ext cx="4734098" cy="2512715"/>
            <a:chOff x="0" y="0"/>
            <a:chExt cx="1650230" cy="87589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650230" cy="875892"/>
            </a:xfrm>
            <a:custGeom>
              <a:avLst/>
              <a:gdLst/>
              <a:ahLst/>
              <a:cxnLst/>
              <a:rect l="l" t="t" r="r" b="b"/>
              <a:pathLst>
                <a:path w="1650230" h="875892">
                  <a:moveTo>
                    <a:pt x="24530" y="0"/>
                  </a:moveTo>
                  <a:lnTo>
                    <a:pt x="1625700" y="0"/>
                  </a:lnTo>
                  <a:cubicBezTo>
                    <a:pt x="1632206" y="0"/>
                    <a:pt x="1638445" y="2584"/>
                    <a:pt x="1643045" y="7185"/>
                  </a:cubicBezTo>
                  <a:cubicBezTo>
                    <a:pt x="1647646" y="11785"/>
                    <a:pt x="1650230" y="18024"/>
                    <a:pt x="1650230" y="24530"/>
                  </a:cubicBezTo>
                  <a:lnTo>
                    <a:pt x="1650230" y="851362"/>
                  </a:lnTo>
                  <a:cubicBezTo>
                    <a:pt x="1650230" y="857868"/>
                    <a:pt x="1647646" y="864107"/>
                    <a:pt x="1643045" y="868707"/>
                  </a:cubicBezTo>
                  <a:cubicBezTo>
                    <a:pt x="1638445" y="873308"/>
                    <a:pt x="1632206" y="875892"/>
                    <a:pt x="1625700" y="875892"/>
                  </a:cubicBezTo>
                  <a:lnTo>
                    <a:pt x="24530" y="875892"/>
                  </a:lnTo>
                  <a:cubicBezTo>
                    <a:pt x="18024" y="875892"/>
                    <a:pt x="11785" y="873308"/>
                    <a:pt x="7185" y="868707"/>
                  </a:cubicBezTo>
                  <a:cubicBezTo>
                    <a:pt x="2584" y="864107"/>
                    <a:pt x="0" y="857868"/>
                    <a:pt x="0" y="851362"/>
                  </a:cubicBezTo>
                  <a:lnTo>
                    <a:pt x="0" y="24530"/>
                  </a:lnTo>
                  <a:cubicBezTo>
                    <a:pt x="0" y="18024"/>
                    <a:pt x="2584" y="11785"/>
                    <a:pt x="7185" y="7185"/>
                  </a:cubicBezTo>
                  <a:cubicBezTo>
                    <a:pt x="11785" y="2584"/>
                    <a:pt x="18024" y="0"/>
                    <a:pt x="24530" y="0"/>
                  </a:cubicBezTo>
                  <a:close/>
                </a:path>
              </a:pathLst>
            </a:custGeom>
            <a:solidFill>
              <a:srgbClr val="2A0DA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1650230" cy="904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087144" y="3868078"/>
            <a:ext cx="4734098" cy="2512715"/>
            <a:chOff x="0" y="0"/>
            <a:chExt cx="1650230" cy="87589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650230" cy="875892"/>
            </a:xfrm>
            <a:custGeom>
              <a:avLst/>
              <a:gdLst/>
              <a:ahLst/>
              <a:cxnLst/>
              <a:rect l="l" t="t" r="r" b="b"/>
              <a:pathLst>
                <a:path w="1650230" h="875892">
                  <a:moveTo>
                    <a:pt x="24530" y="0"/>
                  </a:moveTo>
                  <a:lnTo>
                    <a:pt x="1625700" y="0"/>
                  </a:lnTo>
                  <a:cubicBezTo>
                    <a:pt x="1632206" y="0"/>
                    <a:pt x="1638445" y="2584"/>
                    <a:pt x="1643045" y="7185"/>
                  </a:cubicBezTo>
                  <a:cubicBezTo>
                    <a:pt x="1647646" y="11785"/>
                    <a:pt x="1650230" y="18024"/>
                    <a:pt x="1650230" y="24530"/>
                  </a:cubicBezTo>
                  <a:lnTo>
                    <a:pt x="1650230" y="851362"/>
                  </a:lnTo>
                  <a:cubicBezTo>
                    <a:pt x="1650230" y="857868"/>
                    <a:pt x="1647646" y="864107"/>
                    <a:pt x="1643045" y="868707"/>
                  </a:cubicBezTo>
                  <a:cubicBezTo>
                    <a:pt x="1638445" y="873308"/>
                    <a:pt x="1632206" y="875892"/>
                    <a:pt x="1625700" y="875892"/>
                  </a:cubicBezTo>
                  <a:lnTo>
                    <a:pt x="24530" y="875892"/>
                  </a:lnTo>
                  <a:cubicBezTo>
                    <a:pt x="18024" y="875892"/>
                    <a:pt x="11785" y="873308"/>
                    <a:pt x="7185" y="868707"/>
                  </a:cubicBezTo>
                  <a:cubicBezTo>
                    <a:pt x="2584" y="864107"/>
                    <a:pt x="0" y="857868"/>
                    <a:pt x="0" y="851362"/>
                  </a:cubicBezTo>
                  <a:lnTo>
                    <a:pt x="0" y="24530"/>
                  </a:lnTo>
                  <a:cubicBezTo>
                    <a:pt x="0" y="18024"/>
                    <a:pt x="2584" y="11785"/>
                    <a:pt x="7185" y="7185"/>
                  </a:cubicBezTo>
                  <a:cubicBezTo>
                    <a:pt x="11785" y="2584"/>
                    <a:pt x="18024" y="0"/>
                    <a:pt x="24530" y="0"/>
                  </a:cubicBezTo>
                  <a:close/>
                </a:path>
              </a:pathLst>
            </a:custGeom>
            <a:solidFill>
              <a:srgbClr val="2A0DA1"/>
            </a:solidFill>
            <a:ln w="4762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1650230" cy="904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AutoShape 26"/>
          <p:cNvSpPr/>
          <p:nvPr/>
        </p:nvSpPr>
        <p:spPr>
          <a:xfrm>
            <a:off x="310661" y="1684898"/>
            <a:ext cx="4499464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AutoShape 27"/>
          <p:cNvSpPr/>
          <p:nvPr/>
        </p:nvSpPr>
        <p:spPr>
          <a:xfrm>
            <a:off x="5227223" y="1703948"/>
            <a:ext cx="4499464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AutoShape 28"/>
          <p:cNvSpPr/>
          <p:nvPr/>
        </p:nvSpPr>
        <p:spPr>
          <a:xfrm>
            <a:off x="345191" y="4466515"/>
            <a:ext cx="4499464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9" name="AutoShape 29"/>
          <p:cNvSpPr/>
          <p:nvPr/>
        </p:nvSpPr>
        <p:spPr>
          <a:xfrm>
            <a:off x="5208271" y="4478712"/>
            <a:ext cx="4499464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0" name="Group 30"/>
          <p:cNvGrpSpPr/>
          <p:nvPr/>
        </p:nvGrpSpPr>
        <p:grpSpPr>
          <a:xfrm>
            <a:off x="7727240" y="7138035"/>
            <a:ext cx="2147247" cy="321693"/>
            <a:chOff x="0" y="0"/>
            <a:chExt cx="2862995" cy="428924"/>
          </a:xfrm>
        </p:grpSpPr>
        <p:sp>
          <p:nvSpPr>
            <p:cNvPr id="31" name="TextBox 31"/>
            <p:cNvSpPr txBox="1"/>
            <p:nvPr/>
          </p:nvSpPr>
          <p:spPr>
            <a:xfrm>
              <a:off x="428924" y="23952"/>
              <a:ext cx="2434071" cy="34292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100"/>
                </a:lnSpc>
              </a:pPr>
              <a:r>
                <a:rPr lang="en-US" sz="1500">
                  <a:solidFill>
                    <a:srgbClr val="FFFFFF"/>
                  </a:solidFill>
                  <a:latin typeface="Radnika Next"/>
                  <a:ea typeface="Radnika Next"/>
                  <a:cs typeface="Radnika Next"/>
                  <a:sym typeface="Radnika Next"/>
                </a:rPr>
                <a:t>Same Connectivity</a:t>
              </a:r>
            </a:p>
          </p:txBody>
        </p:sp>
        <p:sp>
          <p:nvSpPr>
            <p:cNvPr id="32" name="Freeform 32"/>
            <p:cNvSpPr/>
            <p:nvPr/>
          </p:nvSpPr>
          <p:spPr>
            <a:xfrm>
              <a:off x="0" y="0"/>
              <a:ext cx="428924" cy="428924"/>
            </a:xfrm>
            <a:custGeom>
              <a:avLst/>
              <a:gdLst/>
              <a:ahLst/>
              <a:cxnLst/>
              <a:rect l="l" t="t" r="r" b="b"/>
              <a:pathLst>
                <a:path w="428924" h="428924">
                  <a:moveTo>
                    <a:pt x="0" y="0"/>
                  </a:moveTo>
                  <a:lnTo>
                    <a:pt x="428924" y="0"/>
                  </a:lnTo>
                  <a:lnTo>
                    <a:pt x="428924" y="428924"/>
                  </a:lnTo>
                  <a:lnTo>
                    <a:pt x="0" y="4289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33" name="Group 33"/>
          <p:cNvGrpSpPr/>
          <p:nvPr/>
        </p:nvGrpSpPr>
        <p:grpSpPr>
          <a:xfrm>
            <a:off x="2685506" y="155481"/>
            <a:ext cx="4687388" cy="559269"/>
            <a:chOff x="0" y="0"/>
            <a:chExt cx="1633948" cy="19495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633948" cy="194952"/>
            </a:xfrm>
            <a:custGeom>
              <a:avLst/>
              <a:gdLst/>
              <a:ahLst/>
              <a:cxnLst/>
              <a:rect l="l" t="t" r="r" b="b"/>
              <a:pathLst>
                <a:path w="1633948" h="194952">
                  <a:moveTo>
                    <a:pt x="49549" y="0"/>
                  </a:moveTo>
                  <a:lnTo>
                    <a:pt x="1584398" y="0"/>
                  </a:lnTo>
                  <a:cubicBezTo>
                    <a:pt x="1597540" y="0"/>
                    <a:pt x="1610143" y="5220"/>
                    <a:pt x="1619435" y="14513"/>
                  </a:cubicBezTo>
                  <a:cubicBezTo>
                    <a:pt x="1628728" y="23805"/>
                    <a:pt x="1633948" y="36408"/>
                    <a:pt x="1633948" y="49549"/>
                  </a:cubicBezTo>
                  <a:lnTo>
                    <a:pt x="1633948" y="145403"/>
                  </a:lnTo>
                  <a:cubicBezTo>
                    <a:pt x="1633948" y="158544"/>
                    <a:pt x="1628728" y="171147"/>
                    <a:pt x="1619435" y="180439"/>
                  </a:cubicBezTo>
                  <a:cubicBezTo>
                    <a:pt x="1610143" y="189732"/>
                    <a:pt x="1597540" y="194952"/>
                    <a:pt x="1584398" y="194952"/>
                  </a:cubicBezTo>
                  <a:lnTo>
                    <a:pt x="49549" y="194952"/>
                  </a:lnTo>
                  <a:cubicBezTo>
                    <a:pt x="36408" y="194952"/>
                    <a:pt x="23805" y="189732"/>
                    <a:pt x="14513" y="180439"/>
                  </a:cubicBezTo>
                  <a:cubicBezTo>
                    <a:pt x="5220" y="171147"/>
                    <a:pt x="0" y="158544"/>
                    <a:pt x="0" y="145403"/>
                  </a:cubicBezTo>
                  <a:lnTo>
                    <a:pt x="0" y="49549"/>
                  </a:lnTo>
                  <a:cubicBezTo>
                    <a:pt x="0" y="36408"/>
                    <a:pt x="5220" y="23805"/>
                    <a:pt x="14513" y="14513"/>
                  </a:cubicBezTo>
                  <a:cubicBezTo>
                    <a:pt x="23805" y="5220"/>
                    <a:pt x="36408" y="0"/>
                    <a:pt x="49549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0" y="-28575"/>
              <a:ext cx="1633948" cy="2235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2889926" y="129533"/>
            <a:ext cx="4278548" cy="898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CARD 10</a:t>
            </a:r>
            <a:r>
              <a:rPr lang="en-US" sz="3000" b="1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- CAFFEINE</a:t>
            </a:r>
          </a:p>
          <a:p>
            <a:pPr algn="ctr">
              <a:lnSpc>
                <a:spcPts val="2800"/>
              </a:lnSpc>
            </a:pPr>
            <a:r>
              <a:rPr lang="en-US" sz="2000" u="sng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Molecular Formula:</a:t>
            </a:r>
            <a:r>
              <a:rPr lang="en-US" sz="2000" b="1" u="sng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C8H10N4O2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164473" y="6628443"/>
            <a:ext cx="3729453" cy="382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b="1">
                <a:solidFill>
                  <a:srgbClr val="FFFFFF"/>
                </a:solidFill>
                <a:latin typeface="Radnika Next Bold"/>
                <a:ea typeface="Radnika Next Bold"/>
                <a:cs typeface="Radnika Next Bold"/>
                <a:sym typeface="Radnika Next Bold"/>
              </a:rPr>
              <a:t>- </a:t>
            </a:r>
            <a:r>
              <a:rPr lang="en-US" sz="2200" b="1" u="sng">
                <a:solidFill>
                  <a:srgbClr val="FFFFFF"/>
                </a:solidFill>
                <a:latin typeface="Radnika Next Bold"/>
                <a:ea typeface="Radnika Next Bold"/>
                <a:cs typeface="Radnika Next Bold"/>
                <a:sym typeface="Radnika Next Bold"/>
              </a:rPr>
              <a:t>VERIFICATION STRIP</a:t>
            </a:r>
            <a:r>
              <a:rPr lang="en-US" sz="2200" b="1">
                <a:solidFill>
                  <a:srgbClr val="FFFFFF"/>
                </a:solidFill>
                <a:latin typeface="Radnika Next Bold"/>
                <a:ea typeface="Radnika Next Bold"/>
                <a:cs typeface="Radnika Next Bold"/>
                <a:sym typeface="Radnika Next Bold"/>
              </a:rPr>
              <a:t> -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15251" y="1176611"/>
            <a:ext cx="2710647" cy="422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Knockout Welterweight Bold"/>
                <a:ea typeface="Knockout Welterweight Bold"/>
                <a:cs typeface="Knockout Welterweight Bold"/>
                <a:sym typeface="Knockout Welterweight Bold"/>
              </a:rPr>
              <a:t>MOLECULAR FORMULA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337665" y="1167086"/>
            <a:ext cx="2300321" cy="431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Knockout Welterweight Bold"/>
                <a:ea typeface="Knockout Welterweight Bold"/>
                <a:cs typeface="Knockout Welterweight Bold"/>
                <a:sym typeface="Knockout Welterweight Bold"/>
              </a:rPr>
              <a:t>LEWIS STRUCTURE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179949" y="3959967"/>
            <a:ext cx="2556107" cy="422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Knockout Welterweight Bold"/>
                <a:ea typeface="Knockout Welterweight Bold"/>
                <a:cs typeface="Knockout Welterweight Bold"/>
                <a:sym typeface="Knockout Welterweight Bold"/>
              </a:rPr>
              <a:t>BOND-LINE FORMULA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21851" y="3959967"/>
            <a:ext cx="4297447" cy="422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FFFFFF"/>
                </a:solidFill>
                <a:latin typeface="Knockout Welterweight Bold"/>
                <a:ea typeface="Knockout Welterweight Bold"/>
                <a:cs typeface="Knockout Welterweight Bold"/>
                <a:sym typeface="Knockout Welterweight Bold"/>
              </a:rPr>
              <a:t>CONDENSED STRUCTURAL FORMULA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01761" y="2102621"/>
            <a:ext cx="4480419" cy="827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4000" dirty="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C8H10N4O2</a:t>
            </a:r>
            <a:endParaRPr lang="en-US" sz="5000" dirty="0">
              <a:solidFill>
                <a:srgbClr val="FFFFFF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293036" y="4914190"/>
            <a:ext cx="4555078" cy="817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000" dirty="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CH3N1¹CH</a:t>
            </a:r>
            <a:r>
              <a:rPr lang="en-US" sz="2300" dirty="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=NC2=C1¹C(=O)</a:t>
            </a:r>
          </a:p>
          <a:p>
            <a:pPr algn="ctr">
              <a:lnSpc>
                <a:spcPts val="3220"/>
              </a:lnSpc>
            </a:pPr>
            <a:r>
              <a:rPr lang="en-US" sz="2300" dirty="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N(CH3)C(=O)N2CH3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5870298" y="1598865"/>
            <a:ext cx="3306279" cy="2018202"/>
            <a:chOff x="0" y="0"/>
            <a:chExt cx="4408372" cy="2690937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408372" cy="2690937"/>
            </a:xfrm>
            <a:custGeom>
              <a:avLst/>
              <a:gdLst/>
              <a:ahLst/>
              <a:cxnLst/>
              <a:rect l="l" t="t" r="r" b="b"/>
              <a:pathLst>
                <a:path w="4408372" h="2690937">
                  <a:moveTo>
                    <a:pt x="0" y="0"/>
                  </a:moveTo>
                  <a:lnTo>
                    <a:pt x="4408372" y="0"/>
                  </a:lnTo>
                  <a:lnTo>
                    <a:pt x="4408372" y="2690937"/>
                  </a:lnTo>
                  <a:lnTo>
                    <a:pt x="0" y="26909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0665" b="-33157"/>
              </a:stretch>
            </a:blipFill>
          </p:spPr>
        </p:sp>
        <p:sp>
          <p:nvSpPr>
            <p:cNvPr id="46" name="Freeform 46"/>
            <p:cNvSpPr/>
            <p:nvPr/>
          </p:nvSpPr>
          <p:spPr>
            <a:xfrm>
              <a:off x="1860465" y="694148"/>
              <a:ext cx="179098" cy="355103"/>
            </a:xfrm>
            <a:custGeom>
              <a:avLst/>
              <a:gdLst/>
              <a:ahLst/>
              <a:cxnLst/>
              <a:rect l="l" t="t" r="r" b="b"/>
              <a:pathLst>
                <a:path w="179098" h="355103">
                  <a:moveTo>
                    <a:pt x="0" y="0"/>
                  </a:moveTo>
                  <a:lnTo>
                    <a:pt x="179098" y="0"/>
                  </a:lnTo>
                  <a:lnTo>
                    <a:pt x="179098" y="355102"/>
                  </a:lnTo>
                  <a:lnTo>
                    <a:pt x="0" y="3551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78928" t="-394495" r="-1268836" b="-689609"/>
              </a:stretch>
            </a:blipFill>
          </p:spPr>
        </p:sp>
        <p:sp>
          <p:nvSpPr>
            <p:cNvPr id="47" name="Freeform 47"/>
            <p:cNvSpPr/>
            <p:nvPr/>
          </p:nvSpPr>
          <p:spPr>
            <a:xfrm>
              <a:off x="1388546" y="1505601"/>
              <a:ext cx="176639" cy="268942"/>
            </a:xfrm>
            <a:custGeom>
              <a:avLst/>
              <a:gdLst/>
              <a:ahLst/>
              <a:cxnLst/>
              <a:rect l="l" t="t" r="r" b="b"/>
              <a:pathLst>
                <a:path w="176639" h="268942">
                  <a:moveTo>
                    <a:pt x="0" y="0"/>
                  </a:moveTo>
                  <a:lnTo>
                    <a:pt x="176639" y="0"/>
                  </a:lnTo>
                  <a:lnTo>
                    <a:pt x="176639" y="268942"/>
                  </a:lnTo>
                  <a:lnTo>
                    <a:pt x="0" y="2689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33224" t="-850691" r="-1598295" b="-646313"/>
              </a:stretch>
            </a:blipFill>
          </p:spPr>
        </p:sp>
        <p:sp>
          <p:nvSpPr>
            <p:cNvPr id="48" name="Freeform 48"/>
            <p:cNvSpPr/>
            <p:nvPr/>
          </p:nvSpPr>
          <p:spPr>
            <a:xfrm>
              <a:off x="2809245" y="1681165"/>
              <a:ext cx="192830" cy="266006"/>
            </a:xfrm>
            <a:custGeom>
              <a:avLst/>
              <a:gdLst/>
              <a:ahLst/>
              <a:cxnLst/>
              <a:rect l="l" t="t" r="r" b="b"/>
              <a:pathLst>
                <a:path w="192830" h="266006">
                  <a:moveTo>
                    <a:pt x="0" y="0"/>
                  </a:moveTo>
                  <a:lnTo>
                    <a:pt x="192830" y="0"/>
                  </a:lnTo>
                  <a:lnTo>
                    <a:pt x="192830" y="266006"/>
                  </a:lnTo>
                  <a:lnTo>
                    <a:pt x="0" y="2660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452938" t="-932874" r="-688736" b="-592129"/>
              </a:stretch>
            </a:blipFill>
          </p:spPr>
        </p:sp>
        <p:sp>
          <p:nvSpPr>
            <p:cNvPr id="49" name="Freeform 49"/>
            <p:cNvSpPr/>
            <p:nvPr/>
          </p:nvSpPr>
          <p:spPr>
            <a:xfrm>
              <a:off x="2820405" y="656136"/>
              <a:ext cx="181669" cy="335257"/>
            </a:xfrm>
            <a:custGeom>
              <a:avLst/>
              <a:gdLst/>
              <a:ahLst/>
              <a:cxnLst/>
              <a:rect l="l" t="t" r="r" b="b"/>
              <a:pathLst>
                <a:path w="181669" h="335257">
                  <a:moveTo>
                    <a:pt x="0" y="0"/>
                  </a:moveTo>
                  <a:lnTo>
                    <a:pt x="181670" y="0"/>
                  </a:lnTo>
                  <a:lnTo>
                    <a:pt x="181670" y="335257"/>
                  </a:lnTo>
                  <a:lnTo>
                    <a:pt x="0" y="3352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460052" t="-393075" r="-684238" b="-723062"/>
              </a:stretch>
            </a:blipFill>
          </p:spPr>
        </p:sp>
        <p:sp>
          <p:nvSpPr>
            <p:cNvPr id="50" name="Freeform 50"/>
            <p:cNvSpPr/>
            <p:nvPr/>
          </p:nvSpPr>
          <p:spPr>
            <a:xfrm rot="-94447">
              <a:off x="2316165" y="1946730"/>
              <a:ext cx="397720" cy="417962"/>
            </a:xfrm>
            <a:custGeom>
              <a:avLst/>
              <a:gdLst/>
              <a:ahLst/>
              <a:cxnLst/>
              <a:rect l="l" t="t" r="r" b="b"/>
              <a:pathLst>
                <a:path w="397720" h="417962">
                  <a:moveTo>
                    <a:pt x="41045" y="0"/>
                  </a:moveTo>
                  <a:lnTo>
                    <a:pt x="397720" y="38589"/>
                  </a:lnTo>
                  <a:lnTo>
                    <a:pt x="356675" y="417961"/>
                  </a:lnTo>
                  <a:lnTo>
                    <a:pt x="0" y="379372"/>
                  </a:lnTo>
                  <a:lnTo>
                    <a:pt x="41045" y="0"/>
                  </a:lnTo>
                  <a:close/>
                </a:path>
              </a:pathLst>
            </a:custGeom>
            <a:blipFill>
              <a:blip r:embed="rId6"/>
              <a:stretch>
                <a:fillRect l="-554382" t="-639842" r="-397317" b="-260925"/>
              </a:stretch>
            </a:blipFill>
          </p:spPr>
        </p:sp>
        <p:sp>
          <p:nvSpPr>
            <p:cNvPr id="51" name="Freeform 51"/>
            <p:cNvSpPr/>
            <p:nvPr/>
          </p:nvSpPr>
          <p:spPr>
            <a:xfrm>
              <a:off x="782726" y="871699"/>
              <a:ext cx="264699" cy="395656"/>
            </a:xfrm>
            <a:custGeom>
              <a:avLst/>
              <a:gdLst/>
              <a:ahLst/>
              <a:cxnLst/>
              <a:rect l="l" t="t" r="r" b="b"/>
              <a:pathLst>
                <a:path w="264699" h="395656">
                  <a:moveTo>
                    <a:pt x="0" y="0"/>
                  </a:moveTo>
                  <a:lnTo>
                    <a:pt x="264699" y="0"/>
                  </a:lnTo>
                  <a:lnTo>
                    <a:pt x="264699" y="395656"/>
                  </a:lnTo>
                  <a:lnTo>
                    <a:pt x="0" y="395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38935" t="-393123" r="-1224813" b="-553044"/>
              </a:stretch>
            </a:blipFill>
          </p:spPr>
        </p:sp>
      </p:grpSp>
      <p:grpSp>
        <p:nvGrpSpPr>
          <p:cNvPr id="52" name="Group 52"/>
          <p:cNvGrpSpPr/>
          <p:nvPr/>
        </p:nvGrpSpPr>
        <p:grpSpPr>
          <a:xfrm>
            <a:off x="6336963" y="4419401"/>
            <a:ext cx="2179488" cy="1989967"/>
            <a:chOff x="0" y="0"/>
            <a:chExt cx="2905984" cy="265329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905984" cy="2653290"/>
            </a:xfrm>
            <a:custGeom>
              <a:avLst/>
              <a:gdLst/>
              <a:ahLst/>
              <a:cxnLst/>
              <a:rect l="l" t="t" r="r" b="b"/>
              <a:pathLst>
                <a:path w="2905984" h="2653290">
                  <a:moveTo>
                    <a:pt x="0" y="0"/>
                  </a:moveTo>
                  <a:lnTo>
                    <a:pt x="2905984" y="0"/>
                  </a:lnTo>
                  <a:lnTo>
                    <a:pt x="2905984" y="2653290"/>
                  </a:lnTo>
                  <a:lnTo>
                    <a:pt x="0" y="26532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54" name="Freeform 54"/>
            <p:cNvSpPr/>
            <p:nvPr/>
          </p:nvSpPr>
          <p:spPr>
            <a:xfrm>
              <a:off x="1490980" y="2301082"/>
              <a:ext cx="294188" cy="255815"/>
            </a:xfrm>
            <a:custGeom>
              <a:avLst/>
              <a:gdLst/>
              <a:ahLst/>
              <a:cxnLst/>
              <a:rect l="l" t="t" r="r" b="b"/>
              <a:pathLst>
                <a:path w="294188" h="255815">
                  <a:moveTo>
                    <a:pt x="0" y="0"/>
                  </a:moveTo>
                  <a:lnTo>
                    <a:pt x="294188" y="0"/>
                  </a:lnTo>
                  <a:lnTo>
                    <a:pt x="294188" y="255815"/>
                  </a:lnTo>
                  <a:lnTo>
                    <a:pt x="0" y="2558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-466492" t="-851794" r="-343002" b="-3175"/>
              </a:stretch>
            </a:blipFill>
          </p:spPr>
        </p:sp>
        <p:sp>
          <p:nvSpPr>
            <p:cNvPr id="55" name="Freeform 55"/>
            <p:cNvSpPr/>
            <p:nvPr/>
          </p:nvSpPr>
          <p:spPr>
            <a:xfrm>
              <a:off x="1099416" y="601555"/>
              <a:ext cx="193664" cy="216448"/>
            </a:xfrm>
            <a:custGeom>
              <a:avLst/>
              <a:gdLst/>
              <a:ahLst/>
              <a:cxnLst/>
              <a:rect l="l" t="t" r="r" b="b"/>
              <a:pathLst>
                <a:path w="193664" h="216448">
                  <a:moveTo>
                    <a:pt x="0" y="0"/>
                  </a:moveTo>
                  <a:lnTo>
                    <a:pt x="193664" y="0"/>
                  </a:lnTo>
                  <a:lnTo>
                    <a:pt x="193664" y="216448"/>
                  </a:lnTo>
                  <a:lnTo>
                    <a:pt x="0" y="21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522639" t="-239490" r="-791551" b="-815808"/>
              </a:stretch>
            </a:blipFill>
          </p:spPr>
        </p:sp>
        <p:sp>
          <p:nvSpPr>
            <p:cNvPr id="56" name="Freeform 56"/>
            <p:cNvSpPr/>
            <p:nvPr/>
          </p:nvSpPr>
          <p:spPr>
            <a:xfrm>
              <a:off x="101696" y="763098"/>
              <a:ext cx="218470" cy="286742"/>
            </a:xfrm>
            <a:custGeom>
              <a:avLst/>
              <a:gdLst/>
              <a:ahLst/>
              <a:cxnLst/>
              <a:rect l="l" t="t" r="r" b="b"/>
              <a:pathLst>
                <a:path w="218470" h="286742">
                  <a:moveTo>
                    <a:pt x="0" y="0"/>
                  </a:moveTo>
                  <a:lnTo>
                    <a:pt x="218470" y="0"/>
                  </a:lnTo>
                  <a:lnTo>
                    <a:pt x="218470" y="286742"/>
                  </a:lnTo>
                  <a:lnTo>
                    <a:pt x="0" y="2867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-2980" t="-235999" r="-1140680" b="-529155"/>
              </a:stretch>
            </a:blipFill>
          </p:spPr>
        </p:sp>
        <p:sp>
          <p:nvSpPr>
            <p:cNvPr id="57" name="Freeform 57"/>
            <p:cNvSpPr/>
            <p:nvPr/>
          </p:nvSpPr>
          <p:spPr>
            <a:xfrm>
              <a:off x="2146805" y="478091"/>
              <a:ext cx="193664" cy="216448"/>
            </a:xfrm>
            <a:custGeom>
              <a:avLst/>
              <a:gdLst/>
              <a:ahLst/>
              <a:cxnLst/>
              <a:rect l="l" t="t" r="r" b="b"/>
              <a:pathLst>
                <a:path w="193664" h="216448">
                  <a:moveTo>
                    <a:pt x="0" y="0"/>
                  </a:moveTo>
                  <a:lnTo>
                    <a:pt x="193664" y="0"/>
                  </a:lnTo>
                  <a:lnTo>
                    <a:pt x="193664" y="216448"/>
                  </a:lnTo>
                  <a:lnTo>
                    <a:pt x="0" y="21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522639" t="-239490" r="-791551" b="-815808"/>
              </a:stretch>
            </a:blipFill>
          </p:spPr>
        </p:sp>
        <p:sp>
          <p:nvSpPr>
            <p:cNvPr id="58" name="Freeform 58"/>
            <p:cNvSpPr/>
            <p:nvPr/>
          </p:nvSpPr>
          <p:spPr>
            <a:xfrm>
              <a:off x="2363612" y="1441749"/>
              <a:ext cx="193664" cy="216448"/>
            </a:xfrm>
            <a:custGeom>
              <a:avLst/>
              <a:gdLst/>
              <a:ahLst/>
              <a:cxnLst/>
              <a:rect l="l" t="t" r="r" b="b"/>
              <a:pathLst>
                <a:path w="193664" h="216448">
                  <a:moveTo>
                    <a:pt x="0" y="0"/>
                  </a:moveTo>
                  <a:lnTo>
                    <a:pt x="193664" y="0"/>
                  </a:lnTo>
                  <a:lnTo>
                    <a:pt x="193664" y="216448"/>
                  </a:lnTo>
                  <a:lnTo>
                    <a:pt x="0" y="21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522639" t="-239490" r="-791551" b="-815808"/>
              </a:stretch>
            </a:blipFill>
          </p:spPr>
        </p:sp>
        <p:sp>
          <p:nvSpPr>
            <p:cNvPr id="59" name="Freeform 59"/>
            <p:cNvSpPr/>
            <p:nvPr/>
          </p:nvSpPr>
          <p:spPr>
            <a:xfrm>
              <a:off x="782653" y="1601776"/>
              <a:ext cx="193664" cy="216448"/>
            </a:xfrm>
            <a:custGeom>
              <a:avLst/>
              <a:gdLst/>
              <a:ahLst/>
              <a:cxnLst/>
              <a:rect l="l" t="t" r="r" b="b"/>
              <a:pathLst>
                <a:path w="193664" h="216448">
                  <a:moveTo>
                    <a:pt x="0" y="0"/>
                  </a:moveTo>
                  <a:lnTo>
                    <a:pt x="193664" y="0"/>
                  </a:lnTo>
                  <a:lnTo>
                    <a:pt x="193664" y="216448"/>
                  </a:lnTo>
                  <a:lnTo>
                    <a:pt x="0" y="216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522639" t="-239490" r="-791551" b="-815808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381</Words>
  <Application>Microsoft Office PowerPoint</Application>
  <PresentationFormat>Custom</PresentationFormat>
  <Paragraphs>133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Work Sans</vt:lpstr>
      <vt:lpstr>Calibri</vt:lpstr>
      <vt:lpstr>Work Sans Bold</vt:lpstr>
      <vt:lpstr>Radnika Next Bold</vt:lpstr>
      <vt:lpstr>Radnika Next</vt:lpstr>
      <vt:lpstr>Horizon</vt:lpstr>
      <vt:lpstr>Knockout Welterweight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ORGCHEM ACT 2</dc:title>
  <cp:lastModifiedBy>bea triz</cp:lastModifiedBy>
  <cp:revision>5</cp:revision>
  <dcterms:created xsi:type="dcterms:W3CDTF">2006-08-16T00:00:00Z</dcterms:created>
  <dcterms:modified xsi:type="dcterms:W3CDTF">2026-10-11T15:18:41Z</dcterms:modified>
  <dc:identifier>DAHXqfsw0F0</dc:identifier>
</cp:coreProperties>
</file>